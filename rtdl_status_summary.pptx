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E7D77"/>
          </a:solidFill>
          <a:ln w="12700">
            <a:solidFill>
              <a:srgbClr val="1E7D7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932688"/>
            <a:ext cx="2971800" cy="365760"/>
          </a:xfrm>
          <a:prstGeom prst="roundRect">
            <a:avLst>
              <a:gd name="adj" fmla="val 10000"/>
            </a:avLst>
          </a:prstGeom>
          <a:solidFill>
            <a:srgbClr val="E9F1F4"/>
          </a:solidFill>
          <a:ln w="12700">
            <a:solidFill>
              <a:srgbClr val="E9F1F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14984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STATUS DECK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RTDL: A Python-Hosted Ray Tracing DSL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status as of April 5,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0" y="987552"/>
            <a:ext cx="4297680" cy="2331720"/>
          </a:xfrm>
          <a:prstGeom prst="roundRect">
            <a:avLst>
              <a:gd name="adj" fmla="val 1961"/>
            </a:avLst>
          </a:prstGeom>
          <a:solidFill>
            <a:srgbClr val="F5EAD7"/>
          </a:solidFill>
          <a:ln w="12700">
            <a:solidFill>
              <a:srgbClr val="F5EA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78624" y="109728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Thesis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78624" y="1371600"/>
            <a:ext cx="4005072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Whole-project goal: a DSL for non-graphical, re-purposed RT-based applications across multiple backends and ecosystems.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v0.1 slice: Goal 102 closes the full honest bounded RayJoin reproduction for Embree and OptiX, and Goal 103 closes the bounded Vulkan-only package.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155448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76732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Workloads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41248" y="397764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68880" y="3657600"/>
            <a:ext cx="173736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8608" y="3767328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78608" y="397764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89120" y="3657600"/>
            <a:ext cx="19202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8848" y="376732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98848" y="397764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92240" y="3657600"/>
            <a:ext cx="19202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376732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01968" y="397764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CPU + GPU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641080" y="3657600"/>
            <a:ext cx="256032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50808" y="3767328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750808" y="397764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core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0" y="65653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E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summary · 1/15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C4892D"/>
          </a:solidFill>
          <a:ln w="12700">
            <a:solidFill>
              <a:srgbClr val="C489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Vision and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 multi-backend project vision, with RayJoin as the current v0.1 vertical slice.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657600" cy="4526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52704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Ray Tracing Is Hard Today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2104" y="1801368"/>
            <a:ext cx="3364992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developers must understand GPU launch structure, acceleration structures, payload packing, intersection programs, and numerical behavior at the same time.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non-graphics workloads, the programming tax is usually far higher than the conceptual query itself.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526280" y="1417320"/>
            <a:ext cx="3657600" cy="4526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2584" y="152704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RayJoin First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72584" y="1801368"/>
            <a:ext cx="3364992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RayJoin proves RT cores can accelerate spatial joins, but its programming model still leaks OptiX and CUDA details. That makes it a strong first target for a DSL: the performance idea is good, but the interface is too costly.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366760" y="1417320"/>
            <a:ext cx="3154680" cy="452628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13064" y="1527048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RTDL Thesis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13064" y="1801368"/>
            <a:ext cx="2862072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geometry, traversal intent, predicates, and outputs in a language users can author directly.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real compiler boundary in an IR so the same program can target reference execution, native local backends, and future GPU backends.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0058400" y="65653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E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summary · 2/15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E5A7A"/>
          </a:solidFill>
          <a:ln w="12700">
            <a:solidFill>
              <a:srgbClr val="1E5A7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Scope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RTDL can express and run today.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74320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2704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Language Surface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1801368"/>
            <a:ext cx="245059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Python-hosted DSL with @rt.kernel, rt.input, rt.traverse, rt.refine, and rt.emit.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for human and LLM authoring.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703320" y="1417320"/>
            <a:ext cx="274320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9624" y="152704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Workloads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9624" y="1801368"/>
            <a:ext cx="245059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overlay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ray_tri_hitcount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segment_polygon_hitcount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point_nearest_segment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675120" y="1417320"/>
            <a:ext cx="23317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1424" y="152704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21424" y="1801368"/>
            <a:ext cx="203911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C++ oracle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Embree runtime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OptiX runtime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runtime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9235440" y="1417320"/>
            <a:ext cx="219456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81744" y="152704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Codegen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81744" y="1801368"/>
            <a:ext cx="19019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RayJoin lowering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plan.json schema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PostGIS comparison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backend plumbing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868680" y="3840480"/>
            <a:ext cx="1069848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precision mode is float_approx. Exact or robust geometry remains future work.</a:t>
            </a:r>
            <a:pPr indent="0" marL="0">
              <a:buNone/>
            </a:pP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Mac backend is real: current RTDL programs can return results through Embree.</a:t>
            </a:r>
            <a:pPr indent="0" marL="0">
              <a:buNone/>
            </a:pP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OptiX path is parity-clean and faster than PostGIS on the strongest accepted long `county_zipcode` PIP surface.</a:t>
            </a:r>
            <a:pPr indent="0" marL="0">
              <a:buNone/>
            </a:pP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PostGIS is the external indexed baseline on the accepted package surfaces.</a:t>
            </a:r>
            <a:pPr indent="0" marL="0">
              <a:buNone/>
            </a:pP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Vulkan path is hardware-validated, parity-clean on the long flagship row, and slower than PostGIS there.</a:t>
            </a:r>
            <a:pPr indent="0" marL="0">
              <a:buNone/>
            </a:pP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docs, cookbook, and authored examples are in the repo and validated by tests.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58400" y="65653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E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summary · 3/15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5B4E91"/>
          </a:solidFill>
          <a:ln w="12700">
            <a:solidFill>
              <a:srgbClr val="5B4E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Language Example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finite 2D ray-vs-triangle hit-count workload in RTDL.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5577840" cy="4480560"/>
          </a:xfrm>
          <a:prstGeom prst="roundRect">
            <a:avLst>
              <a:gd name="adj" fmla="val 816"/>
            </a:avLst>
          </a:prstGeom>
          <a:solidFill>
            <a:srgbClr val="F4F7FA"/>
          </a:solidFill>
          <a:ln w="12700">
            <a:solidFill>
              <a:srgbClr val="D8E0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27048"/>
            <a:ext cx="5303520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rtdsl as rt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@rt.kernel(backend="rayjoin", precision="float_approx")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ray_triangle_hits():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rays = rt.input("rays", rt.Rays, role="probe")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triangles = rt.input("triangles", rt.Triangles, role="build")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candidates = rt.traverse(rays, triangles, accel="bvh")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hits = rt.refine(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candidates,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predicate=rt.ray_triangle_hit_count(exact=False),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rt.emit(hits, fields=["ray_id", "hit_count"])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537960" y="1417320"/>
            <a:ext cx="4892040" cy="2011680"/>
          </a:xfrm>
          <a:prstGeom prst="roundRect">
            <a:avLst>
              <a:gd name="adj" fmla="val 2273"/>
            </a:avLst>
          </a:prstGeom>
          <a:solidFill>
            <a:srgbClr val="E9F1F4"/>
          </a:solidFill>
          <a:ln w="12700">
            <a:solidFill>
              <a:srgbClr val="E9F1F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84264" y="1527048"/>
            <a:ext cx="4599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Language Intent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84264" y="1801368"/>
            <a:ext cx="45994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kernel describes query semantics, not backend programs. It says what the workload is: rays probe triangles, the predicate is hit counting, and the output is one record per ray.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537960" y="3657600"/>
            <a:ext cx="489204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84264" y="3767328"/>
            <a:ext cx="4599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Authoring Sources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84264" y="4041648"/>
            <a:ext cx="459943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docs: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docs/rtdl/dsl_reference.md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docs/rtdl/programming_guide.md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docs/rtdl/workload_cookbook.md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docs/rtdl/llm_authoring_guide.md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language_reference.py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codex_authored.py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gemini_authored.py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0058400" y="65653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E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summary · 4/15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E7D77"/>
          </a:solidFill>
          <a:ln w="12700">
            <a:solidFill>
              <a:srgbClr val="1E7D7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language surface, multiple execution and backend-planning paths.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9202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02996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DSL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2304288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@rt.kernel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rt.input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rt.traverse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rt.refine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rt.emit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697480" y="2240280"/>
            <a:ext cx="548640" cy="502920"/>
          </a:xfrm>
          <a:prstGeom prst="chevron">
            <a:avLst/>
          </a:prstGeom>
          <a:solidFill>
            <a:srgbClr val="1E7D77"/>
          </a:solidFill>
          <a:ln w="12700">
            <a:solidFill>
              <a:srgbClr val="1E7D7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920240"/>
            <a:ext cx="19202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3864" y="202996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CompiledKernel IR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83864" y="2304288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backend-independent workload meaning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394960" y="2240280"/>
            <a:ext cx="548640" cy="502920"/>
          </a:xfrm>
          <a:prstGeom prst="chevron">
            <a:avLst/>
          </a:prstGeom>
          <a:solidFill>
            <a:srgbClr val="1E7D77"/>
          </a:solidFill>
          <a:ln w="12700">
            <a:solidFill>
              <a:srgbClr val="1E7D7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920240"/>
            <a:ext cx="20116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202996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Lowering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81344" y="2304288"/>
            <a:ext cx="1719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RayJoin backend plan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params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183880" y="2240280"/>
            <a:ext cx="548640" cy="502920"/>
          </a:xfrm>
          <a:prstGeom prst="chevron">
            <a:avLst/>
          </a:prstGeom>
          <a:solidFill>
            <a:srgbClr val="1E7D77"/>
          </a:solidFill>
          <a:ln w="12700">
            <a:solidFill>
              <a:srgbClr val="1E7D7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1920240"/>
            <a:ext cx="26974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0264" y="202996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70264" y="2304288"/>
            <a:ext cx="2404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runtime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Embree runtime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OptiX runtime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runtime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3474720" cy="1600200"/>
          </a:xfrm>
          <a:prstGeom prst="roundRect">
            <a:avLst>
              <a:gd name="adj" fmla="val 2857"/>
            </a:avLst>
          </a:prstGeom>
          <a:solidFill>
            <a:srgbClr val="E6F2EC"/>
          </a:solidFill>
          <a:ln w="12700">
            <a:solidFill>
              <a:srgbClr val="E6F2E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385876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modules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7824" y="4133088"/>
            <a:ext cx="318211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api.py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ir.py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types.py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lowering.py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codegen.py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runtime.py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embree_runtime.py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reference.py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datasets.py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434840" y="3749040"/>
            <a:ext cx="34747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1144" y="385876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contract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81144" y="4133088"/>
            <a:ext cx="318211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kernel can be compiled, lowered, and then either executed locally or used to generate backend artifacts. That keeps language semantics and backend strategy separate.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138160" y="3749040"/>
            <a:ext cx="3291840" cy="1600200"/>
          </a:xfrm>
          <a:prstGeom prst="roundRect">
            <a:avLst>
              <a:gd name="adj" fmla="val 2857"/>
            </a:avLst>
          </a:prstGeom>
          <a:solidFill>
            <a:srgbClr val="F5EAD7"/>
          </a:solidFill>
          <a:ln w="12700">
            <a:solidFill>
              <a:srgbClr val="F5EAD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84464" y="385876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Validated runtime surface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84464" y="4133088"/>
            <a:ext cx="299923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Embree-backed local validation on this Mac, plus larger Linux validation and OptiX execution on 192.168.1.20.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APIs: rt.run_embree(...), rt.run_optix(...)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10058400" y="65653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E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summary · 5/15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4B8B3B"/>
          </a:solidFill>
          <a:ln w="12700">
            <a:solidFill>
              <a:srgbClr val="4B8B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Workloads and Data Pipeline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now covers six workload families and includes RayJoin-aligned fixture support.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606040" cy="28803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27048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lsi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1801368"/>
            <a:ext cx="2313432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vs segment intersection.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Emit: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left_id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right_id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intersection_point_x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intersection_point_y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611880" y="1417320"/>
            <a:ext cx="2606040" cy="28803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58184" y="1527048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58184" y="1801368"/>
            <a:ext cx="2313432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in polygon.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Emit: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point_id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polygon_id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492240" y="1417320"/>
            <a:ext cx="2606040" cy="28803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38544" y="1527048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overlay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38544" y="1801368"/>
            <a:ext cx="2313432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Polygon overlay preparation / seed generation.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Emit: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left_polygon_id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right_polygon_id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requires_lsi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requires_pip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9372600" y="1417320"/>
            <a:ext cx="2103120" cy="28803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8904" y="152704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ray_tri_hitcount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518904" y="1801368"/>
            <a:ext cx="1810512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2D rays against triangles.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Emit: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ray_id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hit_count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31520" y="4526280"/>
            <a:ext cx="3474720" cy="1188720"/>
          </a:xfrm>
          <a:prstGeom prst="roundRect">
            <a:avLst>
              <a:gd name="adj" fmla="val 3846"/>
            </a:avLst>
          </a:prstGeom>
          <a:solidFill>
            <a:srgbClr val="E6F2EC"/>
          </a:solidFill>
          <a:ln w="12700">
            <a:solidFill>
              <a:srgbClr val="E6F2E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63600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 10 extensions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7824" y="4910328"/>
            <a:ext cx="3182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segment_polygon_hitcount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point_nearest_segment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execute through audited native_loop local cases.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434840" y="4526280"/>
            <a:ext cx="33832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1144" y="4636008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support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81144" y="4910328"/>
            <a:ext cx="3090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datasets.py parses RayJoin-style CDB chains and derives segment, polygon, and point-probe views for oracle, Embree, OptiX, and PostGIS comparison.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046720" y="4526280"/>
            <a:ext cx="3383280" cy="1188720"/>
          </a:xfrm>
          <a:prstGeom prst="roundRect">
            <a:avLst>
              <a:gd name="adj" fmla="val 3846"/>
            </a:avLst>
          </a:prstGeom>
          <a:solidFill>
            <a:srgbClr val="E9F1F4"/>
          </a:solidFill>
          <a:ln w="12700">
            <a:solidFill>
              <a:srgbClr val="E9F1F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93024" y="4636008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data sources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93024" y="4910328"/>
            <a:ext cx="3090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tests/fixtures/rayjoin/, exact-source public datasets, bounded Linux validation slices, and synthetic generators.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10058400" y="65653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E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summary · 6/15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You Can Run It Today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useful ways to work with the current RTDL repository.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34747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2704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Compiler / codegen 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1801368"/>
            <a:ext cx="3182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run-rtdsl-py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Compiles kernels, prints lowering plans, and emits generated backend files under generated/.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61688" y="1417320"/>
            <a:ext cx="34747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52704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Native oracle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07992" y="1801368"/>
            <a:ext cx="3182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rt.run_cpu(...)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the current workload surface through the native C/C++ ground-truth path.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973568" y="1417320"/>
            <a:ext cx="34747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19872" y="152704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Native Embree runtime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19872" y="1801368"/>
            <a:ext cx="3182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rt.run_embree(...)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the same workloads through the controlled Embree backend; OptiX runs on the Linux GPU host.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68096" y="3063240"/>
            <a:ext cx="5440680" cy="2423160"/>
          </a:xfrm>
          <a:prstGeom prst="roundRect">
            <a:avLst>
              <a:gd name="adj" fmla="val 1509"/>
            </a:avLst>
          </a:prstGeom>
          <a:solidFill>
            <a:srgbClr val="F4F7FA"/>
          </a:solidFill>
          <a:ln w="12700">
            <a:solidFill>
              <a:srgbClr val="D8E0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3172968"/>
            <a:ext cx="516636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Embree Version: (4, 4, 0)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LSI: ({'left_id': 1, 'right_id': 10, ...})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PIP: ({'point_id': 100, 'polygon_id': 200, 'contains': 1}, ...)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OVERLAY: ({'left_polygon_id': 300, ...})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RAY HITCOUNT: ({'ray_id': 0, 'hit_count': 0}, ...)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473952" y="3063240"/>
            <a:ext cx="4983480" cy="2423160"/>
          </a:xfrm>
          <a:prstGeom prst="roundRect">
            <a:avLst>
              <a:gd name="adj" fmla="val 1509"/>
            </a:avLst>
          </a:prstGeom>
          <a:solidFill>
            <a:srgbClr val="F4F7FA"/>
          </a:solidFill>
          <a:ln w="12700">
            <a:solidFill>
              <a:srgbClr val="D8E0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3172968"/>
            <a:ext cx="470916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Gemini-authored Embree example: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PYTHONPATH=src:. python3 examples/rtdl_gemini_embree_program.py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({'point_id': 0, 'polygon_id': 10, 'contains': 1},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{'point_id': 1, 'polygon_id': 10, 'contains': 0})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10058400" y="65653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E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summary · 7/15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C4892D"/>
          </a:solidFill>
          <a:ln w="12700">
            <a:solidFill>
              <a:srgbClr val="C489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and Revision History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has been advanced through explicit multi-round Codex, Gemini, and Claude review loops.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09728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27048"/>
            <a:ext cx="10680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History 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1801368"/>
            <a:ext cx="106801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history/history.db stores structured metadata. revision_dashboard.html is the manager-facing view. revision_dashboard.md is the GitHub-readable companion.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1828800" cy="3246120"/>
          </a:xfrm>
          <a:prstGeom prst="roundRect">
            <a:avLst>
              <a:gd name="adj" fmla="val 2500"/>
            </a:avLst>
          </a:prstGeom>
          <a:solidFill>
            <a:srgbClr val="E9F1F4"/>
          </a:solidFill>
          <a:ln w="12700">
            <a:solidFill>
              <a:srgbClr val="E9F1F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44144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" y="2715768"/>
            <a:ext cx="1536192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verification and correction.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 precision claims corrected from exact to float_approx.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2743200" y="2331720"/>
            <a:ext cx="1828800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9504" y="244144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 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89504" y="2715768"/>
            <a:ext cx="1536192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codegen and validation.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 stable plan schema, goldens, stronger negative tests.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754880" y="2331720"/>
            <a:ext cx="1828800" cy="3246120"/>
          </a:xfrm>
          <a:prstGeom prst="roundRect">
            <a:avLst>
              <a:gd name="adj" fmla="val 2500"/>
            </a:avLst>
          </a:prstGeom>
          <a:solidFill>
            <a:srgbClr val="E9F1F4"/>
          </a:solidFill>
          <a:ln w="12700">
            <a:solidFill>
              <a:srgbClr val="E9F1F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244144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01184" y="2715768"/>
            <a:ext cx="1536192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Multi-workload coverage and dataset pipeline.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 lsi, pip, overlay, RayJoin-style fixtures.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766560" y="2331720"/>
            <a:ext cx="1828800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2864" y="244144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Goals 3-5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12864" y="2715768"/>
            <a:ext cx="1536192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re-review gate, formal language docs, and ray-triangle hit counts.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778240" y="2331720"/>
            <a:ext cx="1828800" cy="3246120"/>
          </a:xfrm>
          <a:prstGeom prst="roundRect">
            <a:avLst>
              <a:gd name="adj" fmla="val 2500"/>
            </a:avLst>
          </a:prstGeom>
          <a:solidFill>
            <a:srgbClr val="E9F1F4"/>
          </a:solidFill>
          <a:ln w="12700">
            <a:solidFill>
              <a:srgbClr val="E9F1F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24544" y="244144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Goals 6-103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24544" y="2715768"/>
            <a:ext cx="1536192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oracle, Embree maturity, OptiX bring-up, Vulkan repair, release validation, hello-world/tutorial closure, and the honest RayJoin reproduction packages.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10789920" y="2331720"/>
            <a:ext cx="91440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36224" y="244144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36224" y="2715768"/>
            <a:ext cx="621792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103 goals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2+ AI review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published closure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10058400" y="65653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E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summary · 8/15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E5A7A"/>
          </a:solidFill>
          <a:ln w="12700">
            <a:solidFill>
              <a:srgbClr val="1E5A7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Choices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planned execution targets for the same RTDL language.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7432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2704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CPU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1801368"/>
            <a:ext cx="2450592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semantic oracle and portable execution.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implemented as rt.run_cpu(...).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703320" y="1417320"/>
            <a:ext cx="27432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9624" y="152704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Embree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9624" y="1801368"/>
            <a:ext cx="2450592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controlled CPU backend for validated real-data work.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implemented as rt.run_embree(...).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675120" y="1417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1424" y="1527048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OptiX / RayJoin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21424" y="1801368"/>
            <a:ext cx="2221992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NVIDIA GPU backend for the RayJoin-style target slice.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mature performance backend on the accepted long `county_zipcode` PIP surface.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9418320" y="1417320"/>
            <a:ext cx="201168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64624" y="152704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Vulkan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564624" y="1801368"/>
            <a:ext cx="1719072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GPU backend.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hardware-validated, parity-clean on the flagship row, but slower than PostGIS.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868680" y="3840480"/>
            <a:ext cx="106070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is designed so backend specifics live under the IR and lowering boundary, not in user kernels.</a:t>
            </a:r>
            <a:pPr indent="0" marL="0">
              <a:buNone/>
            </a:pPr>
            <a:endParaRPr lang="en-US" sz="1340" dirty="0"/>
          </a:p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Embree is the strongest validated CPU backend today.</a:t>
            </a:r>
            <a:pPr indent="0" marL="0">
              <a:buNone/>
            </a:pPr>
            <a:endParaRPr lang="en-US" sz="1340" dirty="0"/>
          </a:p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OptiX is a mature GPU backend on the accepted flagship row.</a:t>
            </a:r>
            <a:pPr indent="0" marL="0">
              <a:buNone/>
            </a:pPr>
            <a:endParaRPr lang="en-US" sz="1340" dirty="0"/>
          </a:p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is a supported but slower backend, not a provisional placeholder.</a:t>
            </a:r>
            <a:pPr indent="0" marL="0">
              <a:buNone/>
            </a:pPr>
            <a:endParaRPr lang="en-US" sz="1340" dirty="0"/>
          </a:p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broader future architecture can still support CPU, NVIDIA, Vulkan-class, and future Apple/mobile RT targets.</a:t>
            </a:r>
            <a:endParaRPr lang="en-US" sz="1340" dirty="0"/>
          </a:p>
        </p:txBody>
      </p:sp>
      <p:sp>
        <p:nvSpPr>
          <p:cNvPr id="19" name="Text 17"/>
          <p:cNvSpPr/>
          <p:nvPr/>
        </p:nvSpPr>
        <p:spPr>
          <a:xfrm>
            <a:off x="10058400" y="65653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E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summary · 9/15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Proven vs. What Is Not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current system’s claims honest.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257800" cy="4480560"/>
          </a:xfrm>
          <a:prstGeom prst="roundRect">
            <a:avLst>
              <a:gd name="adj" fmla="val 1020"/>
            </a:avLst>
          </a:prstGeom>
          <a:solidFill>
            <a:srgbClr val="E6F2EC"/>
          </a:solidFill>
          <a:ln w="12700">
            <a:solidFill>
              <a:srgbClr val="E6F2E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27048"/>
            <a:ext cx="4965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Proven now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1801368"/>
            <a:ext cx="496519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is a real language surface for six workloads.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kernels can compile to IR and execute through the native oracle, Embree, OptiX, and Vulkan.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102 closes the full honest bounded RayJoin reproduction package, and Goal 103 closes the matching bounded Vulkan-only package.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review history is reproducible and archived.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257800" cy="4480560"/>
          </a:xfrm>
          <a:prstGeom prst="roundRect">
            <a:avLst>
              <a:gd name="adj" fmla="val 1020"/>
            </a:avLst>
          </a:prstGeom>
          <a:solidFill>
            <a:srgbClr val="F7E6DF"/>
          </a:solidFill>
          <a:ln w="12700">
            <a:solidFill>
              <a:srgbClr val="F7E6D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64224" y="1527048"/>
            <a:ext cx="4965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done 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64224" y="1801368"/>
            <a:ext cx="496519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exact / robust geometry implementation.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accepted package is still bounded rather than paper-identical.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Overlay remains a seed analogue, not full polygon materialization.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RayJoin paper rows remain unavailable for Vulkan and several other backend-specific slices.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0058400" y="65653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E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summary · 10/15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4B8B3B"/>
          </a:solidFill>
          <a:ln w="12700">
            <a:solidFill>
              <a:srgbClr val="4B8B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Beyond RayJoin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steps after the current honest reproduction closure.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606040" cy="361188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27048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Stabilize current surface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1801368"/>
            <a:ext cx="231343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improving docs, examples, tutorials, and authored-program testing.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611880" y="1417320"/>
            <a:ext cx="2606040" cy="361188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58184" y="1527048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Widen workload support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58184" y="1801368"/>
            <a:ext cx="231343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more geometry/query forms beyond the current RayJoin-aligned six-workload surface.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492240" y="1417320"/>
            <a:ext cx="2606040" cy="361188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38544" y="1527048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Close external truth and matrix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38544" y="1801368"/>
            <a:ext cx="231343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missing backend/workload cases only where they materially strengthen the system story.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9372600" y="1417320"/>
            <a:ext cx="2103120" cy="36118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8904" y="152704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Precision and performance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518904" y="1801368"/>
            <a:ext cx="181051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robust arithmetic strategy, continue backend specialization, and widen non-RayJoin application examples.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31520" y="5303520"/>
            <a:ext cx="10744200" cy="566928"/>
          </a:xfrm>
          <a:prstGeom prst="roundRect">
            <a:avLst>
              <a:gd name="adj" fmla="val 8065"/>
            </a:avLst>
          </a:prstGeom>
          <a:solidFill>
            <a:srgbClr val="E6F2EC"/>
          </a:solidFill>
          <a:ln w="12700">
            <a:solidFill>
              <a:srgbClr val="E6F2E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5413248"/>
            <a:ext cx="10451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research transition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7824" y="5687568"/>
            <a:ext cx="10451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has moved from a language sketch to an executable and published multi-backend system. The next phase is broader applications, not first feasibility.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10058400" y="65653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E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summary · 11/15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5B4E91"/>
          </a:solidFill>
          <a:ln w="12700">
            <a:solidFill>
              <a:srgbClr val="5B4E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Status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is ready for post-RayJoin applications.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657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7276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status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1847088"/>
            <a:ext cx="3364992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and local repo are in sync through the current audited multi-backend state.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102 and Goal 103 are published. Embree and OptiX are the mature performance backends; Vulkan is the supported but slower backend.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workspace: /Users/rl2025/rtdl_python_only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617720" y="1463040"/>
            <a:ext cx="329184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4024" y="157276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 new contributor can 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64024" y="1847088"/>
            <a:ext cx="2999232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quick tutorial, write RTDL programs, run tests, and validate kernels against the oracle and the supported backends.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29184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157276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GPU machine unlocks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84464" y="1847088"/>
            <a:ext cx="2999232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GPU execution, backend comparison, and a base for new non-RayJoin workloads.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49808" y="3794760"/>
            <a:ext cx="10698480" cy="1600200"/>
          </a:xfrm>
          <a:prstGeom prst="roundRect">
            <a:avLst>
              <a:gd name="adj" fmla="val 2286"/>
            </a:avLst>
          </a:prstGeom>
          <a:solidFill>
            <a:srgbClr val="F4F7FA"/>
          </a:solidFill>
          <a:ln w="12700">
            <a:solidFill>
              <a:srgbClr val="D8E0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904488"/>
            <a:ext cx="1042416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repo snapshot: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Six supported workloads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Native oracle + Embree + OptiX + Vulkan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Goal 102: full honest bounded RayJoin reproduction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Goal 103: full honest bounded Vulkan-only reproduction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Long flagship row: Embree and OptiX beat PostGIS; Vulkan is parity-clean but slower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- 293 full-matrix tests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- 103 reviewed goal rounds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First-class raw + prepared raw runtime modes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02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Language docs for human + LLM authoring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10058400" y="65653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E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summary · 12/15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E7D77"/>
          </a:solidFill>
          <a:ln w="12700">
            <a:solidFill>
              <a:srgbClr val="1E7D7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AIs Work Together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uses a staged multi-agent loop instead of a one-pass coding workflow.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103120" cy="42519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2704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Goal setup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1801368"/>
            <a:ext cx="1810512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writes the goal, scope, deliverables, and acceptance bar before code changes are treated as valid progress.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063240" y="1417320"/>
            <a:ext cx="2103120" cy="4251960"/>
          </a:xfrm>
          <a:prstGeom prst="roundRect">
            <a:avLst>
              <a:gd name="adj" fmla="val 2174"/>
            </a:avLst>
          </a:prstGeom>
          <a:solidFill>
            <a:srgbClr val="E9F1F4"/>
          </a:solidFill>
          <a:ln w="12700">
            <a:solidFill>
              <a:srgbClr val="E9F1F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9544" y="152704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Pre-review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9544" y="1801368"/>
            <a:ext cx="1810512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or Claude reviews the goal first, checks whether the scope is sound, and states how completion should be verified.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394960" y="1417320"/>
            <a:ext cx="2103120" cy="42519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41264" y="152704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Implement + validate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41264" y="1801368"/>
            <a:ext cx="1810512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updates code, tests, docs, reports, and examples, then runs the actual evidence path.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726680" y="1417320"/>
            <a:ext cx="2103120" cy="4251960"/>
          </a:xfrm>
          <a:prstGeom prst="roundRect">
            <a:avLst>
              <a:gd name="adj" fmla="val 2174"/>
            </a:avLst>
          </a:prstGeom>
          <a:solidFill>
            <a:srgbClr val="E9F1F4"/>
          </a:solidFill>
          <a:ln w="12700">
            <a:solidFill>
              <a:srgbClr val="E9F1F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72984" y="152704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Review + revise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72984" y="1801368"/>
            <a:ext cx="1810512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agent reviews the implemented state. Findings trigger a direct response and another revision pass if needed.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10058400" y="1417320"/>
            <a:ext cx="1417320" cy="4251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04704" y="152704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Close + archive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04704" y="1801368"/>
            <a:ext cx="1124712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after consensus does the round move into history, dashboards, and main.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777240" y="5897880"/>
            <a:ext cx="10698480" cy="530352"/>
          </a:xfrm>
          <a:prstGeom prst="roundRect">
            <a:avLst>
              <a:gd name="adj" fmla="val 8621"/>
            </a:avLst>
          </a:prstGeom>
          <a:solidFill>
            <a:srgbClr val="E6F2EC"/>
          </a:solidFill>
          <a:ln w="12700">
            <a:solidFill>
              <a:srgbClr val="E6F2E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" y="6007608"/>
            <a:ext cx="1040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544" y="6281928"/>
            <a:ext cx="10405872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process turns each accepted goal into an auditable repo state instead of a one-model opinion.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10058400" y="65653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E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summary · 13/15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E5A7A"/>
          </a:solidFill>
          <a:ln w="12700">
            <a:solidFill>
              <a:srgbClr val="1E5A7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Roles and Closure Rules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models play different roles so the project gets structured disagreement before publication.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42900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27048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1801368"/>
            <a:ext cx="313639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implementation driver.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code changes, validation runs, doc updates, rebuttals, and final repo coherence.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29000" cy="2560320"/>
          </a:xfrm>
          <a:prstGeom prst="roundRect">
            <a:avLst>
              <a:gd name="adj" fmla="val 1786"/>
            </a:avLst>
          </a:prstGeom>
          <a:solidFill>
            <a:srgbClr val="E9F1F4"/>
          </a:solidFill>
          <a:ln w="12700">
            <a:solidFill>
              <a:srgbClr val="E9F1F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527048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Gemini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35424" y="1801368"/>
            <a:ext cx="313639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secondary reviewer.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checks scope, evidence, semantic honesty, and whether a round is really ready to close.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429000" cy="256032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3024" y="1527048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Claude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93024" y="1801368"/>
            <a:ext cx="313639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and critique pressure.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used for deeper plan criticism, trust audits, and narrower comparison goals.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868680" y="4160520"/>
            <a:ext cx="105156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Consensus means the agents agree on the final goal state, not that they produce identical reports.</a:t>
            </a:r>
            <a:pPr indent="0" marL="0">
              <a:buNone/>
            </a:pPr>
            <a:endParaRPr lang="en-US" sz="1310" dirty="0"/>
          </a:p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goal can close as complete, complete-for-slice, canceled-superseded, or blocked, as long as the wording matches the evidence.</a:t>
            </a:r>
            <a:pPr indent="0" marL="0">
              <a:buNone/>
            </a:pPr>
            <a:endParaRPr lang="en-US" sz="1310" dirty="0"/>
          </a:p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archive keeps prompts, reviews, responses, and final closure notes so future contributors can inspect why a decision was made.</a:t>
            </a:r>
            <a:pPr indent="0" marL="0">
              <a:buNone/>
            </a:pPr>
            <a:endParaRPr lang="en-US" sz="1310" dirty="0"/>
          </a:p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now a core part of RTDL’s engineering method, not an ad hoc side process.</a:t>
            </a:r>
            <a:endParaRPr lang="en-US" sz="1310" dirty="0"/>
          </a:p>
        </p:txBody>
      </p:sp>
      <p:sp>
        <p:nvSpPr>
          <p:cNvPr id="16" name="Text 14"/>
          <p:cNvSpPr/>
          <p:nvPr/>
        </p:nvSpPr>
        <p:spPr>
          <a:xfrm>
            <a:off x="10058400" y="65653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E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summary · 14/15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RTDL vs Native Runtime Path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19 sharpened the conclusion: the DSL is viable, but only the low-overhead runtime modes are close to native.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257800" cy="397764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27048"/>
            <a:ext cx="4965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RTDL + Embree path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1801368"/>
            <a:ext cx="4965192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Python DSL kernel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compile / validate / lower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Python input normalization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ctypes marshaling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native Embree backend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native rows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Python dict rows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19 larger-profile gap: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lsi dict path: about 101.6x slower than native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pip dict path: about 225.3x slower than native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257800" cy="3977640"/>
          </a:xfrm>
          <a:prstGeom prst="roundRect">
            <a:avLst>
              <a:gd name="adj" fmla="val 1149"/>
            </a:avLst>
          </a:prstGeom>
          <a:solidFill>
            <a:srgbClr val="E9F1F4"/>
          </a:solidFill>
          <a:ln w="12700">
            <a:solidFill>
              <a:srgbClr val="E9F1F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64224" y="1527048"/>
            <a:ext cx="4965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Pure C++ + Embree path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64224" y="1801368"/>
            <a:ext cx="4965192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native input arrays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direct native call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native rows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output serialization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19 larger-profile result: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lsi raw/prepared-raw: about 0.98x / 0.89x of native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pip raw/prepared-raw: about 0.87x / 0.83x of native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77240" y="5577840"/>
            <a:ext cx="10698480" cy="621792"/>
          </a:xfrm>
          <a:prstGeom prst="roundRect">
            <a:avLst>
              <a:gd name="adj" fmla="val 7353"/>
            </a:avLst>
          </a:prstGeom>
          <a:solidFill>
            <a:srgbClr val="F5EAD7"/>
          </a:solidFill>
          <a:ln w="12700">
            <a:solidFill>
              <a:srgbClr val="F5EAD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" y="5687568"/>
            <a:ext cx="10405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implication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3544" y="5961888"/>
            <a:ext cx="10405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020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Python-like DSL. Treat Python dict-return execution as the convenience path, and treat lower-overhead native-return modes as the serious performance path. Python should remain the control plane, not the main data plane.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0058400" y="65653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E0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RTDL summary · 15/15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RTDL Project Status Summary</dc:title>
  <dc:subject>RTDL project status summary</dc:subject>
  <dc:creator>OpenAI Codex</dc:creator>
  <cp:lastModifiedBy>OpenAI Codex</cp:lastModifiedBy>
  <cp:revision>1</cp:revision>
  <dcterms:created xsi:type="dcterms:W3CDTF">2026-04-05T20:17:01Z</dcterms:created>
  <dcterms:modified xsi:type="dcterms:W3CDTF">2026-04-05T20:17:01Z</dcterms:modified>
</cp:coreProperties>
</file>