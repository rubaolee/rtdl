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1E7D77"/>
          </a:solidFill>
          <a:ln w="12700">
            <a:solidFill>
              <a:srgbClr val="1E7D77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1720"/>
          </a:solidFill>
          <a:ln w="12700">
            <a:solidFill>
              <a:srgbClr val="0D172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932688"/>
            <a:ext cx="2971800" cy="365760"/>
          </a:xfrm>
          <a:prstGeom prst="roundRect">
            <a:avLst>
              <a:gd name="adj" fmla="val 10000"/>
            </a:avLst>
          </a:prstGeom>
          <a:solidFill>
            <a:srgbClr val="E9F1F4"/>
          </a:solidFill>
          <a:ln w="12700">
            <a:solidFill>
              <a:srgbClr val="E9F1F4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014984"/>
            <a:ext cx="22860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D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PROJECT STATUS DECK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658368" y="1444752"/>
            <a:ext cx="6126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RTDL: A Python-Hosted Ray Tracing DSL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685800" y="2212848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6B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Research status as of April 3, 2026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132320" y="987552"/>
            <a:ext cx="4297680" cy="2331720"/>
          </a:xfrm>
          <a:prstGeom prst="roundRect">
            <a:avLst>
              <a:gd name="adj" fmla="val 1961"/>
            </a:avLst>
          </a:prstGeom>
          <a:solidFill>
            <a:srgbClr val="F5EAD7"/>
          </a:solidFill>
          <a:ln w="12700">
            <a:solidFill>
              <a:srgbClr val="F5EAD7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278624" y="1097280"/>
            <a:ext cx="40050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Project Thesis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278624" y="1371600"/>
            <a:ext cx="4005072" cy="1837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Whole-project goal: a DSL for non-graphical, re-purposed RT-based applications across multiple backends and ecosystems.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Current v0.1 slice: RayJoin-style workloads validated through a native oracle plus Embree and OptiX, with bounded PostGIS-backed ground truth and a first bounded overlay-seed closure.</a:t>
            </a:r>
            <a:endParaRPr lang="en-US" sz="1080" dirty="0"/>
          </a:p>
        </p:txBody>
      </p:sp>
      <p:sp>
        <p:nvSpPr>
          <p:cNvPr id="11" name="Shape 9"/>
          <p:cNvSpPr/>
          <p:nvPr/>
        </p:nvSpPr>
        <p:spPr>
          <a:xfrm>
            <a:off x="731520" y="3657600"/>
            <a:ext cx="1554480" cy="86868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41248" y="3767328"/>
            <a:ext cx="13350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C6B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Workloads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41248" y="3977640"/>
            <a:ext cx="13350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6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2468880" y="3657600"/>
            <a:ext cx="1737360" cy="86868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578608" y="3767328"/>
            <a:ext cx="15179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C6B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Tests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2578608" y="3977640"/>
            <a:ext cx="15179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273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4389120" y="3657600"/>
            <a:ext cx="1920240" cy="86868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498848" y="3767328"/>
            <a:ext cx="17007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C6B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498848" y="3977640"/>
            <a:ext cx="17007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57+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6492240" y="3657600"/>
            <a:ext cx="1920240" cy="86868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01968" y="3767328"/>
            <a:ext cx="17007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C6B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Validated RT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601968" y="3977640"/>
            <a:ext cx="17007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CPU + GPU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8641080" y="3657600"/>
            <a:ext cx="2560320" cy="86868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750808" y="3767328"/>
            <a:ext cx="2340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C6B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Backends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750808" y="3977640"/>
            <a:ext cx="23408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 core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10058400" y="6565392"/>
            <a:ext cx="16459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D7E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RTDL summary · 1/15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C4892D"/>
          </a:solidFill>
          <a:ln w="12700">
            <a:solidFill>
              <a:srgbClr val="C4892D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1720"/>
          </a:solidFill>
          <a:ln w="12700">
            <a:solidFill>
              <a:srgbClr val="0D1720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457200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Vision and Problem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58368" y="93268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Broad multi-backend project vision, with RayJoin as the current v0.1 vertical slice.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685800" y="1417320"/>
            <a:ext cx="3657600" cy="4526280"/>
          </a:xfrm>
          <a:prstGeom prst="roundRect">
            <a:avLst>
              <a:gd name="adj" fmla="val 125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32104" y="1527048"/>
            <a:ext cx="33649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Why Ray Tracing Is Hard Today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32104" y="1801368"/>
            <a:ext cx="3364992" cy="403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Application developers must understand GPU launch structure, acceleration structures, payload packing, intersection programs, and numerical behavior at the same time.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 non-graphics workloads, the programming tax is usually far higher than the conceptual query itself.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4526280" y="1417320"/>
            <a:ext cx="3657600" cy="4526280"/>
          </a:xfrm>
          <a:prstGeom prst="roundRect">
            <a:avLst>
              <a:gd name="adj" fmla="val 125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72584" y="1527048"/>
            <a:ext cx="33649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Why RayJoin First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672584" y="1801368"/>
            <a:ext cx="3364992" cy="403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RayJoin proves RT cores can accelerate spatial joins, but its programming model still leaks OptiX and CUDA details. That makes it a strong first target for a DSL: the performance idea is good, but the interface is too costly.</a:t>
            </a:r>
            <a:endParaRPr lang="en-US" sz="1080" dirty="0"/>
          </a:p>
        </p:txBody>
      </p:sp>
      <p:sp>
        <p:nvSpPr>
          <p:cNvPr id="12" name="Shape 10"/>
          <p:cNvSpPr/>
          <p:nvPr/>
        </p:nvSpPr>
        <p:spPr>
          <a:xfrm>
            <a:off x="8366760" y="1417320"/>
            <a:ext cx="3154680" cy="4526280"/>
          </a:xfrm>
          <a:prstGeom prst="roundRect">
            <a:avLst>
              <a:gd name="adj" fmla="val 144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513064" y="1527048"/>
            <a:ext cx="28620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RTDL Thesis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513064" y="1801368"/>
            <a:ext cx="2862072" cy="403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Expose geometry, traversal intent, predicates, and outputs in a language users can author directly.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Keep the real compiler boundary in an IR so the same program can target reference execution, native local backends, and future GPU backends.</a:t>
            </a:r>
            <a:endParaRPr lang="en-US" sz="1080" dirty="0"/>
          </a:p>
        </p:txBody>
      </p:sp>
      <p:sp>
        <p:nvSpPr>
          <p:cNvPr id="15" name="Text 13"/>
          <p:cNvSpPr/>
          <p:nvPr/>
        </p:nvSpPr>
        <p:spPr>
          <a:xfrm>
            <a:off x="10058400" y="6565392"/>
            <a:ext cx="16459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D7E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RTDL summary · 2/15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1E5A7A"/>
          </a:solidFill>
          <a:ln w="12700">
            <a:solidFill>
              <a:srgbClr val="1E5A7A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1720"/>
          </a:solidFill>
          <a:ln w="12700">
            <a:solidFill>
              <a:srgbClr val="0D1720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457200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Current Scope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58368" y="93268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RTDL can express and run today.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731520" y="1417320"/>
            <a:ext cx="2743200" cy="2011680"/>
          </a:xfrm>
          <a:prstGeom prst="roundRect">
            <a:avLst>
              <a:gd name="adj" fmla="val 227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77824" y="1527048"/>
            <a:ext cx="2450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Language Surface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77824" y="1801368"/>
            <a:ext cx="2450592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Python-hosted DSL with @rt.kernel, rt.input, rt.traverse, rt.refine, and rt.emit.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Documented for human and LLM authoring.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3703320" y="1417320"/>
            <a:ext cx="2743200" cy="2011680"/>
          </a:xfrm>
          <a:prstGeom prst="roundRect">
            <a:avLst>
              <a:gd name="adj" fmla="val 227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849624" y="1527048"/>
            <a:ext cx="2450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Workloads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849624" y="1801368"/>
            <a:ext cx="2450592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lsi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pip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overlay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ray_tri_hitcount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segment_polygon_hitcount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point_nearest_segment</a:t>
            </a:r>
            <a:endParaRPr lang="en-US" sz="1080" dirty="0"/>
          </a:p>
        </p:txBody>
      </p:sp>
      <p:sp>
        <p:nvSpPr>
          <p:cNvPr id="12" name="Shape 10"/>
          <p:cNvSpPr/>
          <p:nvPr/>
        </p:nvSpPr>
        <p:spPr>
          <a:xfrm>
            <a:off x="6675120" y="1417320"/>
            <a:ext cx="2331720" cy="2011680"/>
          </a:xfrm>
          <a:prstGeom prst="roundRect">
            <a:avLst>
              <a:gd name="adj" fmla="val 227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21424" y="1527048"/>
            <a:ext cx="2039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Execution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821424" y="1801368"/>
            <a:ext cx="2039112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Native C++ oracle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Embree runtime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OptiX runtime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Vulkan (provisional)</a:t>
            </a:r>
            <a:endParaRPr lang="en-US" sz="1080" dirty="0"/>
          </a:p>
        </p:txBody>
      </p:sp>
      <p:sp>
        <p:nvSpPr>
          <p:cNvPr id="15" name="Shape 13"/>
          <p:cNvSpPr/>
          <p:nvPr/>
        </p:nvSpPr>
        <p:spPr>
          <a:xfrm>
            <a:off x="9235440" y="1417320"/>
            <a:ext cx="2194560" cy="2011680"/>
          </a:xfrm>
          <a:prstGeom prst="roundRect">
            <a:avLst>
              <a:gd name="adj" fmla="val 227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381744" y="1527048"/>
            <a:ext cx="19019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Codegen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9381744" y="1801368"/>
            <a:ext cx="1901952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RayJoin lowering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plan.json schema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PostGIS comparison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GPU backend plumbing</a:t>
            </a:r>
            <a:endParaRPr lang="en-US" sz="1080" dirty="0"/>
          </a:p>
        </p:txBody>
      </p:sp>
      <p:sp>
        <p:nvSpPr>
          <p:cNvPr id="18" name="Text 16"/>
          <p:cNvSpPr/>
          <p:nvPr/>
        </p:nvSpPr>
        <p:spPr>
          <a:xfrm>
            <a:off x="868680" y="3840480"/>
            <a:ext cx="10698480" cy="1828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77800" indent="-177800">
              <a:buSzPct val="100000"/>
              <a:buChar char="•"/>
            </a:pPr>
            <a:r>
              <a:rPr lang="en-US" sz="135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Implemented precision mode is float_approx. Exact or robust geometry remains future work.</a:t>
            </a:r>
            <a:pPr indent="0" marL="0">
              <a:buNone/>
            </a:pPr>
            <a:endParaRPr lang="en-US" sz="1350" dirty="0"/>
          </a:p>
          <a:p>
            <a:pPr marL="177800" indent="-177800">
              <a:buSzPct val="100000"/>
              <a:buChar char="•"/>
            </a:pPr>
            <a:r>
              <a:rPr lang="en-US" sz="135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Mac backend is real: current RTDL programs can return results through Embree.</a:t>
            </a:r>
            <a:pPr indent="0" marL="0">
              <a:buNone/>
            </a:pPr>
            <a:endParaRPr lang="en-US" sz="1350" dirty="0"/>
          </a:p>
          <a:p>
            <a:pPr marL="177800" indent="-177800">
              <a:buSzPct val="100000"/>
              <a:buChar char="•"/>
            </a:pPr>
            <a:r>
              <a:rPr lang="en-US" sz="135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OptiX path is a real controlled runtime on 192.168.1.20, with bounded accepted real-data validation.</a:t>
            </a:r>
            <a:pPr indent="0" marL="0">
              <a:buNone/>
            </a:pPr>
            <a:endParaRPr lang="en-US" sz="1350" dirty="0"/>
          </a:p>
          <a:p>
            <a:pPr marL="177800" indent="-177800">
              <a:buSzPct val="100000"/>
              <a:buChar char="•"/>
            </a:pPr>
            <a:r>
              <a:rPr lang="en-US" sz="135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PostGIS is now a closed external checker on accepted bounded packages.</a:t>
            </a:r>
            <a:pPr indent="0" marL="0">
              <a:buNone/>
            </a:pPr>
            <a:endParaRPr lang="en-US" sz="1350" dirty="0"/>
          </a:p>
          <a:p>
            <a:pPr marL="177800" indent="-177800">
              <a:buSzPct val="100000"/>
              <a:buChar char="•"/>
            </a:pPr>
            <a:r>
              <a:rPr lang="en-US" sz="135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Vulkan path is present in-repo but still provisional.</a:t>
            </a:r>
            <a:pPr indent="0" marL="0">
              <a:buNone/>
            </a:pPr>
            <a:endParaRPr lang="en-US" sz="1350" dirty="0"/>
          </a:p>
          <a:p>
            <a:pPr marL="177800" indent="-177800">
              <a:buSzPct val="100000"/>
              <a:buChar char="•"/>
            </a:pPr>
            <a:r>
              <a:rPr lang="en-US" sz="135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Language docs, cookbook, and authored examples are in the repo and validated by tests.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10058400" y="6565392"/>
            <a:ext cx="16459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D7E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RTDL summary · 3/15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5B4E91"/>
          </a:solidFill>
          <a:ln w="12700">
            <a:solidFill>
              <a:srgbClr val="5B4E91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1720"/>
          </a:solidFill>
          <a:ln w="12700">
            <a:solidFill>
              <a:srgbClr val="0D1720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457200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Language Example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58368" y="93268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finite 2D ray-vs-triangle hit-count workload in RTDL.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713232" y="1417320"/>
            <a:ext cx="5577840" cy="4480560"/>
          </a:xfrm>
          <a:prstGeom prst="roundRect">
            <a:avLst>
              <a:gd name="adj" fmla="val 816"/>
            </a:avLst>
          </a:prstGeom>
          <a:solidFill>
            <a:srgbClr val="F4F7FA"/>
          </a:solidFill>
          <a:ln w="12700">
            <a:solidFill>
              <a:srgbClr val="D8E0E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50392" y="1527048"/>
            <a:ext cx="5303520" cy="4261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rtdsl as rt</a:t>
            </a:r>
            <a:endParaRPr lang="en-US" sz="980" dirty="0"/>
          </a:p>
          <a:p>
            <a:pPr indent="0" marL="0">
              <a:buNone/>
            </a:pP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@rt.kernel(backend="rayjoin", precision="float_approx")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ray_triangle_hits():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rays = rt.input("rays", rt.Rays, role="probe")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triangles = rt.input("triangles", rt.Triangles, role="build")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candidates = rt.traverse(rays, triangles, accel="bvh")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hits = rt.refine(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candidates,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predicate=rt.ray_triangle_hit_count(exact=False),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)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rt.emit(hits, fields=["ray_id", "hit_count"])</a:t>
            </a:r>
            <a:endParaRPr lang="en-US" sz="980" dirty="0"/>
          </a:p>
        </p:txBody>
      </p:sp>
      <p:sp>
        <p:nvSpPr>
          <p:cNvPr id="8" name="Shape 6"/>
          <p:cNvSpPr/>
          <p:nvPr/>
        </p:nvSpPr>
        <p:spPr>
          <a:xfrm>
            <a:off x="6537960" y="1417320"/>
            <a:ext cx="4892040" cy="2011680"/>
          </a:xfrm>
          <a:prstGeom prst="roundRect">
            <a:avLst>
              <a:gd name="adj" fmla="val 2273"/>
            </a:avLst>
          </a:prstGeom>
          <a:solidFill>
            <a:srgbClr val="E9F1F4"/>
          </a:solidFill>
          <a:ln w="12700">
            <a:solidFill>
              <a:srgbClr val="E9F1F4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684264" y="1527048"/>
            <a:ext cx="4599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Language Intent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684264" y="1801368"/>
            <a:ext cx="4599432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kernel describes query semantics, not backend programs. It says what the workload is: rays probe triangles, the predicate is hit counting, and the output is one record per ray.</a:t>
            </a:r>
            <a:endParaRPr lang="en-US" sz="1080" dirty="0"/>
          </a:p>
        </p:txBody>
      </p:sp>
      <p:sp>
        <p:nvSpPr>
          <p:cNvPr id="11" name="Shape 9"/>
          <p:cNvSpPr/>
          <p:nvPr/>
        </p:nvSpPr>
        <p:spPr>
          <a:xfrm>
            <a:off x="6537960" y="3657600"/>
            <a:ext cx="4892040" cy="2240280"/>
          </a:xfrm>
          <a:prstGeom prst="roundRect">
            <a:avLst>
              <a:gd name="adj" fmla="val 2041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84264" y="3767328"/>
            <a:ext cx="4599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Authoring Sources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684264" y="4041648"/>
            <a:ext cx="4599432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Repo docs: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docs/rtdl/dsl_reference.md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docs/rtdl/programming_guide.md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docs/rtdl/workload_cookbook.md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docs/rtdl/llm_authoring_guide.md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Examples: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language_reference.py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codex_authored.py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gemini_authored.py</a:t>
            </a:r>
            <a:endParaRPr lang="en-US" sz="1080" dirty="0"/>
          </a:p>
        </p:txBody>
      </p:sp>
      <p:sp>
        <p:nvSpPr>
          <p:cNvPr id="14" name="Text 12"/>
          <p:cNvSpPr/>
          <p:nvPr/>
        </p:nvSpPr>
        <p:spPr>
          <a:xfrm>
            <a:off x="10058400" y="6565392"/>
            <a:ext cx="16459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D7E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RTDL summary · 4/15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1E7D77"/>
          </a:solidFill>
          <a:ln w="12700">
            <a:solidFill>
              <a:srgbClr val="1E7D77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1720"/>
          </a:solidFill>
          <a:ln w="12700">
            <a:solidFill>
              <a:srgbClr val="0D1720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457200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Current Architecture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58368" y="93268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language surface, multiple execution and backend-planning paths.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640080" y="1920240"/>
            <a:ext cx="1920240" cy="109728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" y="2029968"/>
            <a:ext cx="16276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Python DSL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86384" y="2304288"/>
            <a:ext cx="162763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@rt.kernel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rt.input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rt.traverse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rt.refine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rt.emit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2697480" y="2240280"/>
            <a:ext cx="548640" cy="502920"/>
          </a:xfrm>
          <a:prstGeom prst="chevron">
            <a:avLst/>
          </a:prstGeom>
          <a:solidFill>
            <a:srgbClr val="1E7D77"/>
          </a:solidFill>
          <a:ln w="12700">
            <a:solidFill>
              <a:srgbClr val="1E7D77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337560" y="1920240"/>
            <a:ext cx="1920240" cy="109728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483864" y="2029968"/>
            <a:ext cx="16276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CompiledKernel IR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483864" y="2304288"/>
            <a:ext cx="162763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backend-independent workload meaning</a:t>
            </a:r>
            <a:endParaRPr lang="en-US" sz="1080" dirty="0"/>
          </a:p>
        </p:txBody>
      </p:sp>
      <p:sp>
        <p:nvSpPr>
          <p:cNvPr id="13" name="Shape 11"/>
          <p:cNvSpPr/>
          <p:nvPr/>
        </p:nvSpPr>
        <p:spPr>
          <a:xfrm>
            <a:off x="5394960" y="2240280"/>
            <a:ext cx="548640" cy="502920"/>
          </a:xfrm>
          <a:prstGeom prst="chevron">
            <a:avLst/>
          </a:prstGeom>
          <a:solidFill>
            <a:srgbClr val="1E7D77"/>
          </a:solidFill>
          <a:ln w="12700">
            <a:solidFill>
              <a:srgbClr val="1E7D77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035040" y="1920240"/>
            <a:ext cx="2011680" cy="109728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181344" y="2029968"/>
            <a:ext cx="17190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Lowering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181344" y="2304288"/>
            <a:ext cx="17190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RayJoin backend plan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payloads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launch params</a:t>
            </a:r>
            <a:endParaRPr lang="en-US" sz="1080" dirty="0"/>
          </a:p>
        </p:txBody>
      </p:sp>
      <p:sp>
        <p:nvSpPr>
          <p:cNvPr id="17" name="Shape 15"/>
          <p:cNvSpPr/>
          <p:nvPr/>
        </p:nvSpPr>
        <p:spPr>
          <a:xfrm>
            <a:off x="8183880" y="2240280"/>
            <a:ext cx="548640" cy="502920"/>
          </a:xfrm>
          <a:prstGeom prst="chevron">
            <a:avLst/>
          </a:prstGeom>
          <a:solidFill>
            <a:srgbClr val="1E7D77"/>
          </a:solidFill>
          <a:ln w="12700">
            <a:solidFill>
              <a:srgbClr val="1E7D77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823960" y="1920240"/>
            <a:ext cx="2697480" cy="109728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70264" y="2029968"/>
            <a:ext cx="2404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Outputs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8970264" y="2304288"/>
            <a:ext cx="24048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Oracle runtime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Embree runtime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OptiX runtime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Vulkan runtime (provisional)</a:t>
            </a:r>
            <a:endParaRPr lang="en-US" sz="1080" dirty="0"/>
          </a:p>
        </p:txBody>
      </p:sp>
      <p:sp>
        <p:nvSpPr>
          <p:cNvPr id="21" name="Shape 19"/>
          <p:cNvSpPr/>
          <p:nvPr/>
        </p:nvSpPr>
        <p:spPr>
          <a:xfrm>
            <a:off x="731520" y="3749040"/>
            <a:ext cx="3474720" cy="1600200"/>
          </a:xfrm>
          <a:prstGeom prst="roundRect">
            <a:avLst>
              <a:gd name="adj" fmla="val 2857"/>
            </a:avLst>
          </a:prstGeom>
          <a:solidFill>
            <a:srgbClr val="E6F2EC"/>
          </a:solidFill>
          <a:ln w="12700">
            <a:solidFill>
              <a:srgbClr val="E6F2EC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77824" y="3858768"/>
            <a:ext cx="3182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Key modules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877824" y="4133088"/>
            <a:ext cx="3182112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api.py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ir.py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types.py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lowering.py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codegen.py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runtime.py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embree_runtime.py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reference.py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datasets.py</a:t>
            </a:r>
            <a:endParaRPr lang="en-US" sz="1080" dirty="0"/>
          </a:p>
        </p:txBody>
      </p:sp>
      <p:sp>
        <p:nvSpPr>
          <p:cNvPr id="24" name="Shape 22"/>
          <p:cNvSpPr/>
          <p:nvPr/>
        </p:nvSpPr>
        <p:spPr>
          <a:xfrm>
            <a:off x="4434840" y="3749040"/>
            <a:ext cx="3474720" cy="16002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81144" y="3858768"/>
            <a:ext cx="3182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Execution contract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4581144" y="4133088"/>
            <a:ext cx="3182112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same kernel can be compiled, lowered, and then either executed locally or used to generate backend artifacts. That keeps language semantics and backend strategy separate.</a:t>
            </a:r>
            <a:endParaRPr lang="en-US" sz="1080" dirty="0"/>
          </a:p>
        </p:txBody>
      </p:sp>
      <p:sp>
        <p:nvSpPr>
          <p:cNvPr id="27" name="Shape 25"/>
          <p:cNvSpPr/>
          <p:nvPr/>
        </p:nvSpPr>
        <p:spPr>
          <a:xfrm>
            <a:off x="8138160" y="3749040"/>
            <a:ext cx="3291840" cy="1600200"/>
          </a:xfrm>
          <a:prstGeom prst="roundRect">
            <a:avLst>
              <a:gd name="adj" fmla="val 2857"/>
            </a:avLst>
          </a:prstGeom>
          <a:solidFill>
            <a:srgbClr val="F5EAD7"/>
          </a:solidFill>
          <a:ln w="12700">
            <a:solidFill>
              <a:srgbClr val="F5EAD7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284464" y="3858768"/>
            <a:ext cx="29992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Validated runtime surface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8284464" y="4133088"/>
            <a:ext cx="2999232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Embree-backed local validation on this Mac, plus larger Linux validation and OptiX execution on 192.168.1.20.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Public APIs: rt.run_embree(...), rt.run_optix(...)</a:t>
            </a:r>
            <a:endParaRPr lang="en-US" sz="1080" dirty="0"/>
          </a:p>
        </p:txBody>
      </p:sp>
      <p:sp>
        <p:nvSpPr>
          <p:cNvPr id="30" name="Text 28"/>
          <p:cNvSpPr/>
          <p:nvPr/>
        </p:nvSpPr>
        <p:spPr>
          <a:xfrm>
            <a:off x="10058400" y="6565392"/>
            <a:ext cx="16459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D7E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RTDL summary · 5/15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4B8B3B"/>
          </a:solidFill>
          <a:ln w="12700">
            <a:solidFill>
              <a:srgbClr val="4B8B3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1720"/>
          </a:solidFill>
          <a:ln w="12700">
            <a:solidFill>
              <a:srgbClr val="0D1720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457200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Workloads and Data Pipeline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58368" y="93268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RTDL now covers six workload families and includes RayJoin-aligned fixture support.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731520" y="1417320"/>
            <a:ext cx="2606040" cy="2880360"/>
          </a:xfrm>
          <a:prstGeom prst="roundRect">
            <a:avLst>
              <a:gd name="adj" fmla="val 1754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77824" y="1527048"/>
            <a:ext cx="2313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lsi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77824" y="1801368"/>
            <a:ext cx="2313432" cy="2386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Segment vs segment intersection.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Emit: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left_id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right_id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intersection_point_x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intersection_point_y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3611880" y="1417320"/>
            <a:ext cx="2606040" cy="2880360"/>
          </a:xfrm>
          <a:prstGeom prst="roundRect">
            <a:avLst>
              <a:gd name="adj" fmla="val 1754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758184" y="1527048"/>
            <a:ext cx="2313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pip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758184" y="1801368"/>
            <a:ext cx="2313432" cy="2386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Point in polygon.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Emit: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point_id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polygon_id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contains</a:t>
            </a:r>
            <a:endParaRPr lang="en-US" sz="1080" dirty="0"/>
          </a:p>
        </p:txBody>
      </p:sp>
      <p:sp>
        <p:nvSpPr>
          <p:cNvPr id="12" name="Shape 10"/>
          <p:cNvSpPr/>
          <p:nvPr/>
        </p:nvSpPr>
        <p:spPr>
          <a:xfrm>
            <a:off x="6492240" y="1417320"/>
            <a:ext cx="2606040" cy="2880360"/>
          </a:xfrm>
          <a:prstGeom prst="roundRect">
            <a:avLst>
              <a:gd name="adj" fmla="val 1754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38544" y="1527048"/>
            <a:ext cx="2313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overlay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638544" y="1801368"/>
            <a:ext cx="2313432" cy="2386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Polygon overlay preparation / seed generation.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Emit: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left_polygon_id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right_polygon_id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requires_lsi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requires_pip</a:t>
            </a:r>
            <a:endParaRPr lang="en-US" sz="1080" dirty="0"/>
          </a:p>
        </p:txBody>
      </p:sp>
      <p:sp>
        <p:nvSpPr>
          <p:cNvPr id="15" name="Shape 13"/>
          <p:cNvSpPr/>
          <p:nvPr/>
        </p:nvSpPr>
        <p:spPr>
          <a:xfrm>
            <a:off x="9372600" y="1417320"/>
            <a:ext cx="2103120" cy="2880360"/>
          </a:xfrm>
          <a:prstGeom prst="roundRect">
            <a:avLst>
              <a:gd name="adj" fmla="val 2174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8904" y="1527048"/>
            <a:ext cx="18105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ray_tri_hitcount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9518904" y="1801368"/>
            <a:ext cx="1810512" cy="2386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Finite 2D rays against triangles.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Emit: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ray_id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hit_count</a:t>
            </a:r>
            <a:endParaRPr lang="en-US" sz="1080" dirty="0"/>
          </a:p>
        </p:txBody>
      </p:sp>
      <p:sp>
        <p:nvSpPr>
          <p:cNvPr id="18" name="Shape 16"/>
          <p:cNvSpPr/>
          <p:nvPr/>
        </p:nvSpPr>
        <p:spPr>
          <a:xfrm>
            <a:off x="731520" y="4526280"/>
            <a:ext cx="3474720" cy="1188720"/>
          </a:xfrm>
          <a:prstGeom prst="roundRect">
            <a:avLst>
              <a:gd name="adj" fmla="val 3846"/>
            </a:avLst>
          </a:prstGeom>
          <a:solidFill>
            <a:srgbClr val="E6F2EC"/>
          </a:solidFill>
          <a:ln w="12700">
            <a:solidFill>
              <a:srgbClr val="E6F2EC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77824" y="4636008"/>
            <a:ext cx="3182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Goal 10 extensions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877824" y="4910328"/>
            <a:ext cx="318211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segment_polygon_hitcount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point_nearest_segment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These execute through audited native_loop local cases.</a:t>
            </a:r>
            <a:endParaRPr lang="en-US" sz="1080" dirty="0"/>
          </a:p>
        </p:txBody>
      </p:sp>
      <p:sp>
        <p:nvSpPr>
          <p:cNvPr id="21" name="Shape 19"/>
          <p:cNvSpPr/>
          <p:nvPr/>
        </p:nvSpPr>
        <p:spPr>
          <a:xfrm>
            <a:off x="4434840" y="4526280"/>
            <a:ext cx="3383280" cy="118872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81144" y="4636008"/>
            <a:ext cx="30906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Dataset support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4581144" y="4910328"/>
            <a:ext cx="309067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datasets.py parses RayJoin-style CDB chains and derives segment, polygon, and point-probe views for oracle, Embree, OptiX, and PostGIS comparison.</a:t>
            </a:r>
            <a:endParaRPr lang="en-US" sz="1080" dirty="0"/>
          </a:p>
        </p:txBody>
      </p:sp>
      <p:sp>
        <p:nvSpPr>
          <p:cNvPr id="24" name="Shape 22"/>
          <p:cNvSpPr/>
          <p:nvPr/>
        </p:nvSpPr>
        <p:spPr>
          <a:xfrm>
            <a:off x="8046720" y="4526280"/>
            <a:ext cx="3383280" cy="1188720"/>
          </a:xfrm>
          <a:prstGeom prst="roundRect">
            <a:avLst>
              <a:gd name="adj" fmla="val 3846"/>
            </a:avLst>
          </a:prstGeom>
          <a:solidFill>
            <a:srgbClr val="E9F1F4"/>
          </a:solidFill>
          <a:ln w="12700">
            <a:solidFill>
              <a:srgbClr val="E9F1F4">
                <a:alpha val="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193024" y="4636008"/>
            <a:ext cx="30906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Example data sources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8193024" y="4910328"/>
            <a:ext cx="309067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tests/fixtures/rayjoin/, exact-source public datasets, bounded Linux validation slices, and synthetic generators.</a:t>
            </a:r>
            <a:endParaRPr lang="en-US" sz="1080" dirty="0"/>
          </a:p>
        </p:txBody>
      </p:sp>
      <p:sp>
        <p:nvSpPr>
          <p:cNvPr id="27" name="Text 25"/>
          <p:cNvSpPr/>
          <p:nvPr/>
        </p:nvSpPr>
        <p:spPr>
          <a:xfrm>
            <a:off x="10058400" y="6565392"/>
            <a:ext cx="16459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D7E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RTDL summary · 6/15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B85C38"/>
          </a:solidFill>
          <a:ln w="12700">
            <a:solidFill>
              <a:srgbClr val="B85C38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1720"/>
          </a:solidFill>
          <a:ln w="12700">
            <a:solidFill>
              <a:srgbClr val="0D1720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457200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How You Can Run It Today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58368" y="93268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Three useful ways to work with the current RTDL repository.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749808" y="1417320"/>
            <a:ext cx="3474720" cy="13716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96112" y="1527048"/>
            <a:ext cx="3182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1. Compiler / codegen demo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96112" y="1801368"/>
            <a:ext cx="3182112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make run-rtdsl-py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Compiles kernels, prints lowering plans, and emits generated backend files under generated/.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4361688" y="1417320"/>
            <a:ext cx="3474720" cy="13716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07992" y="1527048"/>
            <a:ext cx="3182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2. Native oracle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07992" y="1801368"/>
            <a:ext cx="3182112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rt.run_cpu(...)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Runs the current workload surface through the native C/C++ ground-truth path.</a:t>
            </a:r>
            <a:endParaRPr lang="en-US" sz="1080" dirty="0"/>
          </a:p>
        </p:txBody>
      </p:sp>
      <p:sp>
        <p:nvSpPr>
          <p:cNvPr id="12" name="Shape 10"/>
          <p:cNvSpPr/>
          <p:nvPr/>
        </p:nvSpPr>
        <p:spPr>
          <a:xfrm>
            <a:off x="7973568" y="1417320"/>
            <a:ext cx="3474720" cy="13716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119872" y="1527048"/>
            <a:ext cx="3182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3. Native Embree runtime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119872" y="1801368"/>
            <a:ext cx="3182112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rt.run_embree(...)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Runs the same workloads through the controlled Embree backend; OptiX runs on the Linux GPU host.</a:t>
            </a:r>
            <a:endParaRPr lang="en-US" sz="1080" dirty="0"/>
          </a:p>
        </p:txBody>
      </p:sp>
      <p:sp>
        <p:nvSpPr>
          <p:cNvPr id="15" name="Shape 13"/>
          <p:cNvSpPr/>
          <p:nvPr/>
        </p:nvSpPr>
        <p:spPr>
          <a:xfrm>
            <a:off x="768096" y="3063240"/>
            <a:ext cx="5440680" cy="2423160"/>
          </a:xfrm>
          <a:prstGeom prst="roundRect">
            <a:avLst>
              <a:gd name="adj" fmla="val 1509"/>
            </a:avLst>
          </a:prstGeom>
          <a:solidFill>
            <a:srgbClr val="F4F7FA"/>
          </a:solidFill>
          <a:ln w="12700">
            <a:solidFill>
              <a:srgbClr val="D8E0E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05256" y="3172968"/>
            <a:ext cx="5166360" cy="2203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Embree Version: (4, 4, 0)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LSI: ({'left_id': 1, 'right_id': 10, ...})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PIP: ({'point_id': 100, 'polygon_id': 200, 'contains': 1}, ...)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OVERLAY: ({'left_polygon_id': 300, ...})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RAY HITCOUNT: ({'ray_id': 0, 'hit_count': 0}, ...)</a:t>
            </a:r>
            <a:endParaRPr lang="en-US" sz="980" dirty="0"/>
          </a:p>
        </p:txBody>
      </p:sp>
      <p:sp>
        <p:nvSpPr>
          <p:cNvPr id="17" name="Shape 15"/>
          <p:cNvSpPr/>
          <p:nvPr/>
        </p:nvSpPr>
        <p:spPr>
          <a:xfrm>
            <a:off x="6473952" y="3063240"/>
            <a:ext cx="4983480" cy="2423160"/>
          </a:xfrm>
          <a:prstGeom prst="roundRect">
            <a:avLst>
              <a:gd name="adj" fmla="val 1509"/>
            </a:avLst>
          </a:prstGeom>
          <a:solidFill>
            <a:srgbClr val="F4F7FA"/>
          </a:solidFill>
          <a:ln w="12700">
            <a:solidFill>
              <a:srgbClr val="D8E0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611112" y="3172968"/>
            <a:ext cx="4709160" cy="2203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Gemini-authored Embree example:</a:t>
            </a:r>
            <a:endParaRPr lang="en-US" sz="980" dirty="0"/>
          </a:p>
          <a:p>
            <a:pPr indent="0" marL="0">
              <a:buNone/>
            </a:pP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PYTHONPATH=src:. python3 examples/rtdl_gemini_embree_program.py</a:t>
            </a:r>
            <a:endParaRPr lang="en-US" sz="980" dirty="0"/>
          </a:p>
          <a:p>
            <a:pPr indent="0" marL="0">
              <a:buNone/>
            </a:pP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({'point_id': 0, 'polygon_id': 10, 'contains': 1},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{'point_id': 1, 'polygon_id': 10, 'contains': 0})</a:t>
            </a:r>
            <a:endParaRPr lang="en-US" sz="980" dirty="0"/>
          </a:p>
        </p:txBody>
      </p:sp>
      <p:sp>
        <p:nvSpPr>
          <p:cNvPr id="19" name="Text 17"/>
          <p:cNvSpPr/>
          <p:nvPr/>
        </p:nvSpPr>
        <p:spPr>
          <a:xfrm>
            <a:off x="10058400" y="6565392"/>
            <a:ext cx="16459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D7E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RTDL summary · 7/15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C4892D"/>
          </a:solidFill>
          <a:ln w="12700">
            <a:solidFill>
              <a:srgbClr val="C4892D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1720"/>
          </a:solidFill>
          <a:ln w="12700">
            <a:solidFill>
              <a:srgbClr val="0D1720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457200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Review and Revision History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58368" y="93268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project has been advanced through explicit multi-round Codex, Gemini, and Claude review loops.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731520" y="1417320"/>
            <a:ext cx="10972800" cy="6858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77824" y="1527048"/>
            <a:ext cx="10680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History system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77824" y="1801368"/>
            <a:ext cx="1068019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history/history.db stores structured metadata. revision_dashboard.html is the manager-facing view. revision_dashboard.md is the GitHub-readable companion.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731520" y="2331720"/>
            <a:ext cx="1828800" cy="3246120"/>
          </a:xfrm>
          <a:prstGeom prst="roundRect">
            <a:avLst>
              <a:gd name="adj" fmla="val 2500"/>
            </a:avLst>
          </a:prstGeom>
          <a:solidFill>
            <a:srgbClr val="E9F1F4"/>
          </a:solidFill>
          <a:ln w="12700">
            <a:solidFill>
              <a:srgbClr val="E9F1F4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7824" y="2441448"/>
            <a:ext cx="1536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Round 1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877824" y="2715768"/>
            <a:ext cx="1536192" cy="2752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Baseline verification and correction.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Outcome: precision claims corrected from exact to float_approx.</a:t>
            </a:r>
            <a:endParaRPr lang="en-US" sz="1080" dirty="0"/>
          </a:p>
        </p:txBody>
      </p:sp>
      <p:sp>
        <p:nvSpPr>
          <p:cNvPr id="12" name="Shape 10"/>
          <p:cNvSpPr/>
          <p:nvPr/>
        </p:nvSpPr>
        <p:spPr>
          <a:xfrm>
            <a:off x="2743200" y="2331720"/>
            <a:ext cx="1828800" cy="324612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889504" y="2441448"/>
            <a:ext cx="1536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Goal 1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2889504" y="2715768"/>
            <a:ext cx="1536192" cy="2752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Deterministic codegen and validation.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Outcome: stable plan schema, goldens, stronger negative tests.</a:t>
            </a:r>
            <a:endParaRPr lang="en-US" sz="1080" dirty="0"/>
          </a:p>
        </p:txBody>
      </p:sp>
      <p:sp>
        <p:nvSpPr>
          <p:cNvPr id="15" name="Shape 13"/>
          <p:cNvSpPr/>
          <p:nvPr/>
        </p:nvSpPr>
        <p:spPr>
          <a:xfrm>
            <a:off x="4754880" y="2331720"/>
            <a:ext cx="1828800" cy="3246120"/>
          </a:xfrm>
          <a:prstGeom prst="roundRect">
            <a:avLst>
              <a:gd name="adj" fmla="val 2500"/>
            </a:avLst>
          </a:prstGeom>
          <a:solidFill>
            <a:srgbClr val="E9F1F4"/>
          </a:solidFill>
          <a:ln w="12700">
            <a:solidFill>
              <a:srgbClr val="E9F1F4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901184" y="2441448"/>
            <a:ext cx="1536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Goal 2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901184" y="2715768"/>
            <a:ext cx="1536192" cy="2752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Multi-workload coverage and dataset pipeline.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Outcome: lsi, pip, overlay, RayJoin-style fixtures.</a:t>
            </a:r>
            <a:endParaRPr lang="en-US" sz="1080" dirty="0"/>
          </a:p>
        </p:txBody>
      </p:sp>
      <p:sp>
        <p:nvSpPr>
          <p:cNvPr id="18" name="Shape 16"/>
          <p:cNvSpPr/>
          <p:nvPr/>
        </p:nvSpPr>
        <p:spPr>
          <a:xfrm>
            <a:off x="6766560" y="2331720"/>
            <a:ext cx="1828800" cy="324612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912864" y="2441448"/>
            <a:ext cx="1536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Goals 3-5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912864" y="2715768"/>
            <a:ext cx="1536192" cy="2752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Gemini re-review gate, formal language docs, and ray-triangle hit counts.</a:t>
            </a:r>
            <a:endParaRPr lang="en-US" sz="1080" dirty="0"/>
          </a:p>
        </p:txBody>
      </p:sp>
      <p:sp>
        <p:nvSpPr>
          <p:cNvPr id="21" name="Shape 19"/>
          <p:cNvSpPr/>
          <p:nvPr/>
        </p:nvSpPr>
        <p:spPr>
          <a:xfrm>
            <a:off x="8778240" y="2331720"/>
            <a:ext cx="1828800" cy="3246120"/>
          </a:xfrm>
          <a:prstGeom prst="roundRect">
            <a:avLst>
              <a:gd name="adj" fmla="val 2500"/>
            </a:avLst>
          </a:prstGeom>
          <a:solidFill>
            <a:srgbClr val="E9F1F4"/>
          </a:solidFill>
          <a:ln w="12700">
            <a:solidFill>
              <a:srgbClr val="E9F1F4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924544" y="2441448"/>
            <a:ext cx="1536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Goals 6-57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8924544" y="2715768"/>
            <a:ext cx="1536192" cy="2752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Native oracle, Embree maturity, OptiX bring-up, three-backend checks, docs rewrite, full audit, PostGIS closure, first bounded overlay-seed four-system result, and the status/test refresh package.</a:t>
            </a:r>
            <a:endParaRPr lang="en-US" sz="1080" dirty="0"/>
          </a:p>
        </p:txBody>
      </p:sp>
      <p:sp>
        <p:nvSpPr>
          <p:cNvPr id="24" name="Shape 22"/>
          <p:cNvSpPr/>
          <p:nvPr/>
        </p:nvSpPr>
        <p:spPr>
          <a:xfrm>
            <a:off x="10789920" y="2331720"/>
            <a:ext cx="914400" cy="3246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936224" y="2441448"/>
            <a:ext cx="621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Stats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0936224" y="2715768"/>
            <a:ext cx="621792" cy="2752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57+ goals</a:t>
            </a:r>
            <a:endParaRPr lang="en-US" sz="1020" dirty="0"/>
          </a:p>
          <a:p>
            <a:pPr indent="0" marL="0">
              <a:buNone/>
            </a:pPr>
            <a:r>
              <a:rPr lang="en-US" sz="102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2-3 AI review</a:t>
            </a:r>
            <a:endParaRPr lang="en-US" sz="1020" dirty="0"/>
          </a:p>
          <a:p>
            <a:pPr indent="0" marL="0">
              <a:buNone/>
            </a:pPr>
            <a:r>
              <a:rPr lang="en-US" sz="102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clean audited repo</a:t>
            </a:r>
            <a:endParaRPr lang="en-US" sz="1020" dirty="0"/>
          </a:p>
        </p:txBody>
      </p:sp>
      <p:sp>
        <p:nvSpPr>
          <p:cNvPr id="27" name="Text 25"/>
          <p:cNvSpPr/>
          <p:nvPr/>
        </p:nvSpPr>
        <p:spPr>
          <a:xfrm>
            <a:off x="10058400" y="6565392"/>
            <a:ext cx="16459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D7E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RTDL summary · 8/15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1E5A7A"/>
          </a:solidFill>
          <a:ln w="12700">
            <a:solidFill>
              <a:srgbClr val="1E5A7A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1720"/>
          </a:solidFill>
          <a:ln w="12700">
            <a:solidFill>
              <a:srgbClr val="0D1720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457200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Backend Choices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58368" y="93268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Current and planned execution targets for the same RTDL language.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731520" y="1417320"/>
            <a:ext cx="274320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77824" y="1527048"/>
            <a:ext cx="2450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Reference CPU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77824" y="1801368"/>
            <a:ext cx="2450592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Purpose: semantic oracle and portable execution.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Status: implemented as rt.run_cpu(...).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3703320" y="1417320"/>
            <a:ext cx="274320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849624" y="1527048"/>
            <a:ext cx="2450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Embree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849624" y="1801368"/>
            <a:ext cx="2450592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Purpose: controlled CPU backend for validated real-data work.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Status: implemented as rt.run_embree(...).</a:t>
            </a:r>
            <a:endParaRPr lang="en-US" sz="1080" dirty="0"/>
          </a:p>
        </p:txBody>
      </p:sp>
      <p:sp>
        <p:nvSpPr>
          <p:cNvPr id="12" name="Shape 10"/>
          <p:cNvSpPr/>
          <p:nvPr/>
        </p:nvSpPr>
        <p:spPr>
          <a:xfrm>
            <a:off x="6675120" y="1417320"/>
            <a:ext cx="251460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21424" y="1527048"/>
            <a:ext cx="22219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OptiX / RayJoin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821424" y="1801368"/>
            <a:ext cx="2221992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Purpose: NVIDIA GPU backend for the RayJoin-style target slice.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Status: implemented and validated on bounded accepted workloads.</a:t>
            </a:r>
            <a:endParaRPr lang="en-US" sz="1080" dirty="0"/>
          </a:p>
        </p:txBody>
      </p:sp>
      <p:sp>
        <p:nvSpPr>
          <p:cNvPr id="15" name="Shape 13"/>
          <p:cNvSpPr/>
          <p:nvPr/>
        </p:nvSpPr>
        <p:spPr>
          <a:xfrm>
            <a:off x="9418320" y="1417320"/>
            <a:ext cx="201168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64624" y="1527048"/>
            <a:ext cx="17190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Future Mac GPU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9564624" y="1801368"/>
            <a:ext cx="1719072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Vulkan KHR path is in-repo but provisional.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Apple/Metal work is still future.</a:t>
            </a:r>
            <a:endParaRPr lang="en-US" sz="1080" dirty="0"/>
          </a:p>
        </p:txBody>
      </p:sp>
      <p:sp>
        <p:nvSpPr>
          <p:cNvPr id="18" name="Text 16"/>
          <p:cNvSpPr/>
          <p:nvPr/>
        </p:nvSpPr>
        <p:spPr>
          <a:xfrm>
            <a:off x="868680" y="3840480"/>
            <a:ext cx="10607040" cy="1828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77800" indent="-177800">
              <a:buSzPct val="100000"/>
              <a:buChar char="•"/>
            </a:pPr>
            <a:r>
              <a:rPr lang="en-US" sz="134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RTDL is designed so backend specifics live under the IR and lowering boundary, not in user kernels.</a:t>
            </a:r>
            <a:pPr indent="0" marL="0">
              <a:buNone/>
            </a:pPr>
            <a:endParaRPr lang="en-US" sz="1340" dirty="0"/>
          </a:p>
          <a:p>
            <a:pPr marL="177800" indent="-177800">
              <a:buSzPct val="100000"/>
              <a:buChar char="•"/>
            </a:pPr>
            <a:r>
              <a:rPr lang="en-US" sz="134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Embree is the strongest validated backend today.</a:t>
            </a:r>
            <a:pPr indent="0" marL="0">
              <a:buNone/>
            </a:pPr>
            <a:endParaRPr lang="en-US" sz="1340" dirty="0"/>
          </a:p>
          <a:p>
            <a:pPr marL="177800" indent="-177800">
              <a:buSzPct val="100000"/>
              <a:buChar char="•"/>
            </a:pPr>
            <a:r>
              <a:rPr lang="en-US" sz="134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OptiX is real and correctness-checked on bounded real-data workloads.</a:t>
            </a:r>
            <a:pPr indent="0" marL="0">
              <a:buNone/>
            </a:pPr>
            <a:endParaRPr lang="en-US" sz="1340" dirty="0"/>
          </a:p>
          <a:p>
            <a:pPr marL="177800" indent="-177800">
              <a:buSzPct val="100000"/>
              <a:buChar char="•"/>
            </a:pPr>
            <a:r>
              <a:rPr lang="en-US" sz="134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Vulkan is retained as provisional backend code, not as an equally accepted backend.</a:t>
            </a:r>
            <a:pPr indent="0" marL="0">
              <a:buNone/>
            </a:pPr>
            <a:endParaRPr lang="en-US" sz="1340" dirty="0"/>
          </a:p>
          <a:p>
            <a:pPr marL="177800" indent="-177800">
              <a:buSzPct val="100000"/>
              <a:buChar char="•"/>
            </a:pPr>
            <a:r>
              <a:rPr lang="en-US" sz="134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broader future architecture can still support CPU, NVIDIA, Vulkan-class, and future Apple/mobile RT targets.</a:t>
            </a:r>
            <a:endParaRPr lang="en-US" sz="1340" dirty="0"/>
          </a:p>
        </p:txBody>
      </p:sp>
      <p:sp>
        <p:nvSpPr>
          <p:cNvPr id="19" name="Text 17"/>
          <p:cNvSpPr/>
          <p:nvPr/>
        </p:nvSpPr>
        <p:spPr>
          <a:xfrm>
            <a:off x="10058400" y="6565392"/>
            <a:ext cx="16459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D7E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RTDL summary · 9/15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B85C38"/>
          </a:solidFill>
          <a:ln w="12700">
            <a:solidFill>
              <a:srgbClr val="B85C38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1720"/>
          </a:solidFill>
          <a:ln w="12700">
            <a:solidFill>
              <a:srgbClr val="0D1720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457200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What Is Proven vs. What Is Not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58368" y="93268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Keep the current system’s claims honest.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731520" y="1417320"/>
            <a:ext cx="5257800" cy="4480560"/>
          </a:xfrm>
          <a:prstGeom prst="roundRect">
            <a:avLst>
              <a:gd name="adj" fmla="val 1020"/>
            </a:avLst>
          </a:prstGeom>
          <a:solidFill>
            <a:srgbClr val="E6F2EC"/>
          </a:solidFill>
          <a:ln w="12700">
            <a:solidFill>
              <a:srgbClr val="E6F2EC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77824" y="1527048"/>
            <a:ext cx="4965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Proven now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77824" y="1801368"/>
            <a:ext cx="4965192" cy="3986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RTDL is a real language surface for six workloads.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same kernels can compile to IR and execute through the native oracle, Embree, and accepted bounded OptiX paths.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Bounded four-system checks now exist across PostGIS, the oracle, Embree, and OptiX on accepted real-data packages.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review history is reproducible and archived.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6217920" y="1417320"/>
            <a:ext cx="5257800" cy="4480560"/>
          </a:xfrm>
          <a:prstGeom prst="roundRect">
            <a:avLst>
              <a:gd name="adj" fmla="val 1020"/>
            </a:avLst>
          </a:prstGeom>
          <a:solidFill>
            <a:srgbClr val="F7E6DF"/>
          </a:solidFill>
          <a:ln w="12700">
            <a:solidFill>
              <a:srgbClr val="F7E6DF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364224" y="1527048"/>
            <a:ext cx="4965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Not done yet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364224" y="1801368"/>
            <a:ext cx="4965192" cy="3986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exact / robust geometry implementation.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final bounded full RayJoin-style reproduction package across all current targets yet.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Overlay remains a seed analogue, not full polygon materialization.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Vulkan is not yet validated to the same level as Embree or OptiX.</a:t>
            </a:r>
            <a:endParaRPr lang="en-US" sz="1080" dirty="0"/>
          </a:p>
        </p:txBody>
      </p:sp>
      <p:sp>
        <p:nvSpPr>
          <p:cNvPr id="12" name="Text 10"/>
          <p:cNvSpPr/>
          <p:nvPr/>
        </p:nvSpPr>
        <p:spPr>
          <a:xfrm>
            <a:off x="10058400" y="6565392"/>
            <a:ext cx="16459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D7E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RTDL summary · 10/15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4B8B3B"/>
          </a:solidFill>
          <a:ln w="12700">
            <a:solidFill>
              <a:srgbClr val="4B8B3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1720"/>
          </a:solidFill>
          <a:ln w="12700">
            <a:solidFill>
              <a:srgbClr val="0D1720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457200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Roadmap to a Fully Functional DSL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58368" y="93268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next steps after the current multi-backend bring-up milestone.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731520" y="1417320"/>
            <a:ext cx="2606040" cy="3611880"/>
          </a:xfrm>
          <a:prstGeom prst="roundRect">
            <a:avLst>
              <a:gd name="adj" fmla="val 1754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77824" y="1527048"/>
            <a:ext cx="2313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Step 1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Stabilize current surface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77824" y="1801368"/>
            <a:ext cx="2313432" cy="3118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Keep improving docs, examples, negative validation, and authored-program testing.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3611880" y="1417320"/>
            <a:ext cx="2606040" cy="3611880"/>
          </a:xfrm>
          <a:prstGeom prst="roundRect">
            <a:avLst>
              <a:gd name="adj" fmla="val 1754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758184" y="1527048"/>
            <a:ext cx="2313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Step 2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Widen workload support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758184" y="1801368"/>
            <a:ext cx="2313432" cy="3118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Add more geometry/query forms beyond the current RayJoin-aligned six-workload surface.</a:t>
            </a:r>
            <a:endParaRPr lang="en-US" sz="1080" dirty="0"/>
          </a:p>
        </p:txBody>
      </p:sp>
      <p:sp>
        <p:nvSpPr>
          <p:cNvPr id="12" name="Shape 10"/>
          <p:cNvSpPr/>
          <p:nvPr/>
        </p:nvSpPr>
        <p:spPr>
          <a:xfrm>
            <a:off x="6492240" y="1417320"/>
            <a:ext cx="2606040" cy="3611880"/>
          </a:xfrm>
          <a:prstGeom prst="roundRect">
            <a:avLst>
              <a:gd name="adj" fmla="val 1754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38544" y="1527048"/>
            <a:ext cx="2313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Step 3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Close external truth and matrix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638544" y="1801368"/>
            <a:ext cx="2313432" cy="3118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Extend the PostGIS-backed bounded matrix and close more RayJoin-style families across the current accepted backends.</a:t>
            </a:r>
            <a:endParaRPr lang="en-US" sz="1080" dirty="0"/>
          </a:p>
        </p:txBody>
      </p:sp>
      <p:sp>
        <p:nvSpPr>
          <p:cNvPr id="15" name="Shape 13"/>
          <p:cNvSpPr/>
          <p:nvPr/>
        </p:nvSpPr>
        <p:spPr>
          <a:xfrm>
            <a:off x="9372600" y="1417320"/>
            <a:ext cx="2103120" cy="3611880"/>
          </a:xfrm>
          <a:prstGeom prst="roundRect">
            <a:avLst>
              <a:gd name="adj" fmla="val 2174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8904" y="1527048"/>
            <a:ext cx="18105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Step 4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Precision and performance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9518904" y="1801368"/>
            <a:ext cx="1810512" cy="3118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Add robust arithmetic strategy, continue apples-to-apples backend comparisons, and refine backend specialization.</a:t>
            </a:r>
            <a:endParaRPr lang="en-US" sz="1080" dirty="0"/>
          </a:p>
        </p:txBody>
      </p:sp>
      <p:sp>
        <p:nvSpPr>
          <p:cNvPr id="18" name="Shape 16"/>
          <p:cNvSpPr/>
          <p:nvPr/>
        </p:nvSpPr>
        <p:spPr>
          <a:xfrm>
            <a:off x="731520" y="5303520"/>
            <a:ext cx="10744200" cy="566928"/>
          </a:xfrm>
          <a:prstGeom prst="roundRect">
            <a:avLst>
              <a:gd name="adj" fmla="val 8065"/>
            </a:avLst>
          </a:prstGeom>
          <a:solidFill>
            <a:srgbClr val="E6F2EC"/>
          </a:solidFill>
          <a:ln w="12700">
            <a:solidFill>
              <a:srgbClr val="E6F2EC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77824" y="5413248"/>
            <a:ext cx="10451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Key research transition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877824" y="5687568"/>
            <a:ext cx="10451592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project has moved from a language sketch to an executable system. The next phase is backend maturity, not basic feasibility.</a:t>
            </a:r>
            <a:endParaRPr lang="en-US" sz="1080" dirty="0"/>
          </a:p>
        </p:txBody>
      </p:sp>
      <p:sp>
        <p:nvSpPr>
          <p:cNvPr id="21" name="Text 19"/>
          <p:cNvSpPr/>
          <p:nvPr/>
        </p:nvSpPr>
        <p:spPr>
          <a:xfrm>
            <a:off x="10058400" y="6565392"/>
            <a:ext cx="16459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D7E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RTDL summary · 11/15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5B4E91"/>
          </a:solidFill>
          <a:ln w="12700">
            <a:solidFill>
              <a:srgbClr val="5B4E91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1720"/>
          </a:solidFill>
          <a:ln w="12700">
            <a:solidFill>
              <a:srgbClr val="0D1720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457200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Current Status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58368" y="93268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RTDL is ready for the next development phase.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731520" y="1463040"/>
            <a:ext cx="365760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77824" y="1572768"/>
            <a:ext cx="33649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Repository status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77824" y="1847088"/>
            <a:ext cx="3364992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GitHub and local repo are in sync through the current audited multi-backend state.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Embree and OptiX are real; Vulkan is provisional; bounded PostGIS closure is established on accepted packages.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workspace: /Users/rl2025/rtdl_python_only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4617720" y="1463040"/>
            <a:ext cx="329184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64024" y="1572768"/>
            <a:ext cx="29992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What a new contributor can do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764024" y="1847088"/>
            <a:ext cx="2999232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Read docs/rtdl/*, run make test, validate kernels against the oracle, and compare them against Embree and OptiX on accepted targets.</a:t>
            </a:r>
            <a:endParaRPr lang="en-US" sz="1080" dirty="0"/>
          </a:p>
        </p:txBody>
      </p:sp>
      <p:sp>
        <p:nvSpPr>
          <p:cNvPr id="12" name="Shape 10"/>
          <p:cNvSpPr/>
          <p:nvPr/>
        </p:nvSpPr>
        <p:spPr>
          <a:xfrm>
            <a:off x="8138160" y="1463040"/>
            <a:ext cx="329184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84464" y="1572768"/>
            <a:ext cx="29992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What the GPU machine unlocks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284464" y="1847088"/>
            <a:ext cx="2999232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Bounded real-data GPU validation, apples-to-apples backend comparison, and progress toward a bounded RayJoin-style reproduction package.</a:t>
            </a:r>
            <a:endParaRPr lang="en-US" sz="1080" dirty="0"/>
          </a:p>
        </p:txBody>
      </p:sp>
      <p:sp>
        <p:nvSpPr>
          <p:cNvPr id="15" name="Shape 13"/>
          <p:cNvSpPr/>
          <p:nvPr/>
        </p:nvSpPr>
        <p:spPr>
          <a:xfrm>
            <a:off x="749808" y="3794760"/>
            <a:ext cx="10698480" cy="1600200"/>
          </a:xfrm>
          <a:prstGeom prst="roundRect">
            <a:avLst>
              <a:gd name="adj" fmla="val 2286"/>
            </a:avLst>
          </a:prstGeom>
          <a:solidFill>
            <a:srgbClr val="F4F7FA"/>
          </a:solidFill>
          <a:ln w="12700">
            <a:solidFill>
              <a:srgbClr val="D8E0E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86968" y="3904488"/>
            <a:ext cx="10424160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Current repo snapshot: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Six supported workloads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Native oracle + Embree + OptiX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Bounded PostGIS ground-truth closure on accepted packages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First bounded overlay-seed four-system closure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Vulkan retained as provisional backend code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- 273 full-matrix tests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- 57+ reviewed goal rounds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First-class raw + prepared raw runtime modes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Language docs for human + LLM authoring</a:t>
            </a:r>
            <a:endParaRPr lang="en-US" sz="980" dirty="0"/>
          </a:p>
        </p:txBody>
      </p:sp>
      <p:sp>
        <p:nvSpPr>
          <p:cNvPr id="17" name="Text 15"/>
          <p:cNvSpPr/>
          <p:nvPr/>
        </p:nvSpPr>
        <p:spPr>
          <a:xfrm>
            <a:off x="10058400" y="6565392"/>
            <a:ext cx="16459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D7E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RTDL summary · 12/15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1E7D77"/>
          </a:solidFill>
          <a:ln w="12700">
            <a:solidFill>
              <a:srgbClr val="1E7D77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1720"/>
          </a:solidFill>
          <a:ln w="12700">
            <a:solidFill>
              <a:srgbClr val="0D1720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457200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How the AIs Work Together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58368" y="93268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RTDL uses a staged multi-agent loop instead of a one-pass coding workflow.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731520" y="1417320"/>
            <a:ext cx="2103120" cy="4251960"/>
          </a:xfrm>
          <a:prstGeom prst="roundRect">
            <a:avLst>
              <a:gd name="adj" fmla="val 2174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77824" y="1527048"/>
            <a:ext cx="18105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1. Goal setup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77824" y="1801368"/>
            <a:ext cx="1810512" cy="3758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Codex writes the goal, scope, deliverables, and acceptance bar before code changes are treated as valid progress.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3063240" y="1417320"/>
            <a:ext cx="2103120" cy="4251960"/>
          </a:xfrm>
          <a:prstGeom prst="roundRect">
            <a:avLst>
              <a:gd name="adj" fmla="val 2174"/>
            </a:avLst>
          </a:prstGeom>
          <a:solidFill>
            <a:srgbClr val="E9F1F4"/>
          </a:solidFill>
          <a:ln w="12700">
            <a:solidFill>
              <a:srgbClr val="E9F1F4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09544" y="1527048"/>
            <a:ext cx="18105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2. Pre-review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209544" y="1801368"/>
            <a:ext cx="1810512" cy="3758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Gemini or Claude reviews the goal first, checks whether the scope is sound, and states how completion should be verified.</a:t>
            </a:r>
            <a:endParaRPr lang="en-US" sz="1080" dirty="0"/>
          </a:p>
        </p:txBody>
      </p:sp>
      <p:sp>
        <p:nvSpPr>
          <p:cNvPr id="12" name="Shape 10"/>
          <p:cNvSpPr/>
          <p:nvPr/>
        </p:nvSpPr>
        <p:spPr>
          <a:xfrm>
            <a:off x="5394960" y="1417320"/>
            <a:ext cx="2103120" cy="4251960"/>
          </a:xfrm>
          <a:prstGeom prst="roundRect">
            <a:avLst>
              <a:gd name="adj" fmla="val 2174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541264" y="1527048"/>
            <a:ext cx="18105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3. Implement + validate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541264" y="1801368"/>
            <a:ext cx="1810512" cy="3758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Codex updates code, tests, docs, reports, and examples, then runs the actual evidence path.</a:t>
            </a:r>
            <a:endParaRPr lang="en-US" sz="1080" dirty="0"/>
          </a:p>
        </p:txBody>
      </p:sp>
      <p:sp>
        <p:nvSpPr>
          <p:cNvPr id="15" name="Shape 13"/>
          <p:cNvSpPr/>
          <p:nvPr/>
        </p:nvSpPr>
        <p:spPr>
          <a:xfrm>
            <a:off x="7726680" y="1417320"/>
            <a:ext cx="2103120" cy="4251960"/>
          </a:xfrm>
          <a:prstGeom prst="roundRect">
            <a:avLst>
              <a:gd name="adj" fmla="val 2174"/>
            </a:avLst>
          </a:prstGeom>
          <a:solidFill>
            <a:srgbClr val="E9F1F4"/>
          </a:solidFill>
          <a:ln w="12700">
            <a:solidFill>
              <a:srgbClr val="E9F1F4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872984" y="1527048"/>
            <a:ext cx="18105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4. Review + revise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7872984" y="1801368"/>
            <a:ext cx="1810512" cy="3758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Another agent reviews the implemented state. Findings trigger a direct response and another revision pass if needed.</a:t>
            </a:r>
            <a:endParaRPr lang="en-US" sz="1080" dirty="0"/>
          </a:p>
        </p:txBody>
      </p:sp>
      <p:sp>
        <p:nvSpPr>
          <p:cNvPr id="18" name="Shape 16"/>
          <p:cNvSpPr/>
          <p:nvPr/>
        </p:nvSpPr>
        <p:spPr>
          <a:xfrm>
            <a:off x="10058400" y="1417320"/>
            <a:ext cx="1417320" cy="4251960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204704" y="1527048"/>
            <a:ext cx="11247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5. Close + archive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0204704" y="1801368"/>
            <a:ext cx="1124712" cy="3758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Only after consensus does the round move into history, dashboards, and main.</a:t>
            </a:r>
            <a:endParaRPr lang="en-US" sz="1020" dirty="0"/>
          </a:p>
        </p:txBody>
      </p:sp>
      <p:sp>
        <p:nvSpPr>
          <p:cNvPr id="21" name="Shape 19"/>
          <p:cNvSpPr/>
          <p:nvPr/>
        </p:nvSpPr>
        <p:spPr>
          <a:xfrm>
            <a:off x="777240" y="5897880"/>
            <a:ext cx="10698480" cy="530352"/>
          </a:xfrm>
          <a:prstGeom prst="roundRect">
            <a:avLst>
              <a:gd name="adj" fmla="val 8621"/>
            </a:avLst>
          </a:prstGeom>
          <a:solidFill>
            <a:srgbClr val="E6F2EC"/>
          </a:solidFill>
          <a:ln w="12700">
            <a:solidFill>
              <a:srgbClr val="E6F2EC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23544" y="6007608"/>
            <a:ext cx="10405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Why this matters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923544" y="6281928"/>
            <a:ext cx="10405872" cy="36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This process turns each accepted goal into an auditable repo state instead of a one-model opinion.</a:t>
            </a:r>
            <a:endParaRPr lang="en-US" sz="1080" dirty="0"/>
          </a:p>
        </p:txBody>
      </p:sp>
      <p:sp>
        <p:nvSpPr>
          <p:cNvPr id="24" name="Text 22"/>
          <p:cNvSpPr/>
          <p:nvPr/>
        </p:nvSpPr>
        <p:spPr>
          <a:xfrm>
            <a:off x="10058400" y="6565392"/>
            <a:ext cx="16459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D7E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RTDL summary · 13/15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1E5A7A"/>
          </a:solidFill>
          <a:ln w="12700">
            <a:solidFill>
              <a:srgbClr val="1E5A7A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1720"/>
          </a:solidFill>
          <a:ln w="12700">
            <a:solidFill>
              <a:srgbClr val="0D1720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457200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Agent Roles and Closure Rules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58368" y="93268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Different models play different roles so the project gets structured disagreement before publication.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731520" y="1417320"/>
            <a:ext cx="3429000" cy="2560320"/>
          </a:xfrm>
          <a:prstGeom prst="roundRect">
            <a:avLst>
              <a:gd name="adj" fmla="val 178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77824" y="1527048"/>
            <a:ext cx="3136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Codex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77824" y="1801368"/>
            <a:ext cx="3136392" cy="2066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implementation driver.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Owns code changes, validation runs, doc updates, rebuttals, and final repo coherence.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4389120" y="1417320"/>
            <a:ext cx="3429000" cy="2560320"/>
          </a:xfrm>
          <a:prstGeom prst="roundRect">
            <a:avLst>
              <a:gd name="adj" fmla="val 1786"/>
            </a:avLst>
          </a:prstGeom>
          <a:solidFill>
            <a:srgbClr val="E9F1F4"/>
          </a:solidFill>
          <a:ln w="12700">
            <a:solidFill>
              <a:srgbClr val="E9F1F4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35424" y="1527048"/>
            <a:ext cx="3136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Gemini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35424" y="1801368"/>
            <a:ext cx="3136392" cy="2066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Fast secondary reviewer.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Usually checks scope, evidence, semantic honesty, and whether a round is really ready to close.</a:t>
            </a:r>
            <a:endParaRPr lang="en-US" sz="1080" dirty="0"/>
          </a:p>
        </p:txBody>
      </p:sp>
      <p:sp>
        <p:nvSpPr>
          <p:cNvPr id="12" name="Shape 10"/>
          <p:cNvSpPr/>
          <p:nvPr/>
        </p:nvSpPr>
        <p:spPr>
          <a:xfrm>
            <a:off x="8046720" y="1417320"/>
            <a:ext cx="3429000" cy="2560320"/>
          </a:xfrm>
          <a:prstGeom prst="roundRect">
            <a:avLst>
              <a:gd name="adj" fmla="val 178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193024" y="1527048"/>
            <a:ext cx="3136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Claude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193024" y="1801368"/>
            <a:ext cx="3136392" cy="2066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Audit and critique pressure.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Often used for deeper plan criticism, trust audits, and narrower comparison goals.</a:t>
            </a:r>
            <a:endParaRPr lang="en-US" sz="1080" dirty="0"/>
          </a:p>
        </p:txBody>
      </p:sp>
      <p:sp>
        <p:nvSpPr>
          <p:cNvPr id="15" name="Text 13"/>
          <p:cNvSpPr/>
          <p:nvPr/>
        </p:nvSpPr>
        <p:spPr>
          <a:xfrm>
            <a:off x="868680" y="4160520"/>
            <a:ext cx="10515600" cy="1828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77800" indent="-177800">
              <a:buSzPct val="100000"/>
              <a:buChar char="•"/>
            </a:pPr>
            <a:r>
              <a:rPr lang="en-US" sz="131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Consensus means the agents agree on the final goal state, not that they produce identical reports.</a:t>
            </a:r>
            <a:pPr indent="0" marL="0">
              <a:buNone/>
            </a:pPr>
            <a:endParaRPr lang="en-US" sz="1310" dirty="0"/>
          </a:p>
          <a:p>
            <a:pPr marL="177800" indent="-177800">
              <a:buSzPct val="100000"/>
              <a:buChar char="•"/>
            </a:pPr>
            <a:r>
              <a:rPr lang="en-US" sz="131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goal can close as complete, complete-for-slice, canceled-superseded, or blocked, as long as the wording matches the evidence.</a:t>
            </a:r>
            <a:pPr indent="0" marL="0">
              <a:buNone/>
            </a:pPr>
            <a:endParaRPr lang="en-US" sz="1310" dirty="0"/>
          </a:p>
          <a:p>
            <a:pPr marL="177800" indent="-177800">
              <a:buSzPct val="100000"/>
              <a:buChar char="•"/>
            </a:pPr>
            <a:r>
              <a:rPr lang="en-US" sz="131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archive keeps prompts, reviews, responses, and final closure notes so future contributors can inspect why a decision was made.</a:t>
            </a:r>
            <a:pPr indent="0" marL="0">
              <a:buNone/>
            </a:pPr>
            <a:endParaRPr lang="en-US" sz="1310" dirty="0"/>
          </a:p>
          <a:p>
            <a:pPr marL="177800" indent="-177800">
              <a:buSzPct val="100000"/>
              <a:buChar char="•"/>
            </a:pPr>
            <a:r>
              <a:rPr lang="en-US" sz="131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This is now a core part of RTDL’s engineering method, not an ad hoc side process.</a:t>
            </a:r>
            <a:endParaRPr lang="en-US" sz="1310" dirty="0"/>
          </a:p>
        </p:txBody>
      </p:sp>
      <p:sp>
        <p:nvSpPr>
          <p:cNvPr id="16" name="Text 14"/>
          <p:cNvSpPr/>
          <p:nvPr/>
        </p:nvSpPr>
        <p:spPr>
          <a:xfrm>
            <a:off x="10058400" y="6565392"/>
            <a:ext cx="16459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D7E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RTDL summary · 14/15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B85C38"/>
          </a:solidFill>
          <a:ln w="12700">
            <a:solidFill>
              <a:srgbClr val="B85C38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1720"/>
          </a:solidFill>
          <a:ln w="12700">
            <a:solidFill>
              <a:srgbClr val="0D1720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457200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RTDL vs Native Runtime Path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58368" y="93268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Goal 19 sharpened the conclusion: the DSL is viable, but only the low-overhead runtime modes are close to native.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731520" y="1417320"/>
            <a:ext cx="5257800" cy="3977640"/>
          </a:xfrm>
          <a:prstGeom prst="roundRect">
            <a:avLst>
              <a:gd name="adj" fmla="val 114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77824" y="1527048"/>
            <a:ext cx="4965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Current RTDL + Embree path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77824" y="1801368"/>
            <a:ext cx="4965192" cy="3483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 Python DSL kernel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2. compile / validate / lower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3. Python input normalization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4. ctypes marshaling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5. native Embree backend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6. native rows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7. Python dict rows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Goal 19 larger-profile gap: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lsi dict path: about 101.6x slower than native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pip dict path: about 225.3x slower than native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6217920" y="1417320"/>
            <a:ext cx="5257800" cy="3977640"/>
          </a:xfrm>
          <a:prstGeom prst="roundRect">
            <a:avLst>
              <a:gd name="adj" fmla="val 1149"/>
            </a:avLst>
          </a:prstGeom>
          <a:solidFill>
            <a:srgbClr val="E9F1F4"/>
          </a:solidFill>
          <a:ln w="12700">
            <a:solidFill>
              <a:srgbClr val="E9F1F4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364224" y="1527048"/>
            <a:ext cx="4965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Pure C++ + Embree path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364224" y="1801368"/>
            <a:ext cx="4965192" cy="3483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 native input arrays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2. direct native call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3. native rows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4. output serialization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Goal 19 larger-profile result: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lsi raw/prepared-raw: about 0.98x / 0.89x of native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pip raw/prepared-raw: about 0.87x / 0.83x of native</a:t>
            </a:r>
            <a:endParaRPr lang="en-US" sz="1080" dirty="0"/>
          </a:p>
        </p:txBody>
      </p:sp>
      <p:sp>
        <p:nvSpPr>
          <p:cNvPr id="12" name="Shape 10"/>
          <p:cNvSpPr/>
          <p:nvPr/>
        </p:nvSpPr>
        <p:spPr>
          <a:xfrm>
            <a:off x="777240" y="5577840"/>
            <a:ext cx="10698480" cy="621792"/>
          </a:xfrm>
          <a:prstGeom prst="roundRect">
            <a:avLst>
              <a:gd name="adj" fmla="val 7353"/>
            </a:avLst>
          </a:prstGeom>
          <a:solidFill>
            <a:srgbClr val="F5EAD7"/>
          </a:solidFill>
          <a:ln w="12700">
            <a:solidFill>
              <a:srgbClr val="F5EAD7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23544" y="5687568"/>
            <a:ext cx="10405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Design implication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923544" y="5961888"/>
            <a:ext cx="1040587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Keep the Python-like DSL. Treat dict-return execution as a convenience mode, and treat raw / prepared-raw execution as the serious performance path. Python should remain the control plane, not the main data plane.</a:t>
            </a:r>
            <a:endParaRPr lang="en-US" sz="1080" dirty="0"/>
          </a:p>
        </p:txBody>
      </p:sp>
      <p:sp>
        <p:nvSpPr>
          <p:cNvPr id="15" name="Text 13"/>
          <p:cNvSpPr/>
          <p:nvPr/>
        </p:nvSpPr>
        <p:spPr>
          <a:xfrm>
            <a:off x="10058400" y="6565392"/>
            <a:ext cx="16459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D7E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RTDL summary · 15/15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OpenAI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RTDL Project Status Summary</dc:title>
  <dc:subject>RTDL project status summary</dc:subject>
  <dc:creator>OpenAI Codex</dc:creator>
  <cp:lastModifiedBy>OpenAI Codex</cp:lastModifiedBy>
  <cp:revision>1</cp:revision>
  <dcterms:created xsi:type="dcterms:W3CDTF">2026-04-04T01:53:44Z</dcterms:created>
  <dcterms:modified xsi:type="dcterms:W3CDTF">2026-04-04T01:53:44Z</dcterms:modified>
</cp:coreProperties>
</file>